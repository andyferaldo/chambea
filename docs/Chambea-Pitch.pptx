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7b549411-7a7c-3199-9f90-70822de857a3}">
          <p14:sldIdLst>
            <p14:sldId id="256"/>
          </p14:sldIdLst>
        </p14:section>
        <p14:section name="Problem" id="{6b1b76ba-0c4e-8b7b-00d1-e49754b929bb}">
          <p14:sldIdLst>
            <p14:sldId id="257"/>
          </p14:sldIdLst>
        </p14:section>
        <p14:section name="Insight" id="{77c748dd-9c80-e9dd-be63-e20864271d2c}">
          <p14:sldIdLst>
            <p14:sldId id="258"/>
          </p14:sldIdLst>
        </p14:section>
        <p14:section name="Solution" id="{4e0c319d-7e84-60b1-12e3-9c1a5a88f04d}">
          <p14:sldIdLst>
            <p14:sldId id="259"/>
          </p14:sldIdLst>
        </p14:section>
        <p14:section name="Experience" id="{0fb0944d-863c-c12e-2471-bb03322b53f6}">
          <p14:sldIdLst>
            <p14:sldId id="260"/>
            <p14:sldId id="261"/>
          </p14:sldIdLst>
        </p14:section>
        <p14:section name="Business case" id="{e1278bc0-4edd-4f13-0979-8dbdabbcaacf}">
          <p14:sldIdLst>
            <p14:sldId id="262"/>
          </p14:sldIdLst>
        </p14:section>
        <p14:section name="Impact" id="{cf6113c2-6836-9efc-3672-76e71739c444}">
          <p14:sldIdLst>
            <p14:sldId id="263"/>
          </p14:sldIdLst>
        </p14:section>
        <p14:section name="Ask" id="{dc15507a-a0a6-f67a-6205-9b06b7ca9b3d}">
          <p14:sldIdLst>
            <p14:sldId id="264"/>
          </p14:sldIdLst>
        </p14:section>
        <p14:section name="Cierre" id="{35b736a9-d874-a655-6106-6b00ae339718}">
          <p14:sldIdLst>
            <p14:sldId id="265"/>
          </p14:sldIdLst>
        </p14:section>
        <p14:section name="Anexo" id="{861b07ea-1b60-793f-1daa-460fd2b9a3e0}">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s] Portada. Se muestra mientras se presentan en una frase: “Somos Chambea, y venimos a contarles la historia de Rosa.”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25 segundos
“Ella es Rosa. Tiene 41 años y hace 8 que es cajera en un supermercado de Lima. Nunca le falta un sol: la dejan cerrar la caja sola. Este año pusieron cajas de autoservicio y le quitaron un turno. Rosa siente que ocho años solo sirven para cobrar. Y no está sola: 7 de cada 10 trabajadores en el Perú aprendieron su oficio en la práctica, sin un papel que lo respalde.”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 30 segundos
“¿Por qué le pasa esto a Rosa? Porque describe su trabajo por tareas, no por competencias. Su prueba de valor es la confianza: me dejan cerrar la caja. Pero esa confianza se queda en el supermercado. Por eso solo busca avisos que dicen cajera, aunque un asesor de ventas pide casi lo mismo que ya hace. Lo que sabe no tiene nombre ni prueba, y por eso siente que cambiar de trabajo es empezar de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 30 segundos
“Chambea es un servicio que convierte la experiencia en un siguiente trabajo, en cuatro pasos. Cuéntalo, con tus palabras o tu voz. Arma tu panal: tus tareas se vuelven habilidades, cada una con su prueba. Mira tus rutas: trabajos de nivel parecido con demanda en tu región. Y da el paso, con lo que el Estado ya ofrece: Capacíta-T, Empleos Perú o un Centro de Empleo. La IA corre en QVAC, en local: los datos no salen del ecosistema persona–Ministerio.”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 25 segundos (si hay tiempo, mostrar la demo en vivo con el caso «Rosa» de la portada)
“Así lo vive Rosa. Cuenta su día en cuatro preguntas, hablando o escribiendo. Chambea encuentra dieciséis habilidades, como cuadre de caja y resolver reclamos, cada una con la frase que la prueba. Le muestra que ya tiene seis de siete de lo que pide una vendedora de tienda, que sí se busca en Lima. Y su primer paso: el curso gratuito de Ventas en Capacíta-T, tres horas por semana, desde el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 (continuación) · incluido en los 25 segundos; si falta tiempo, saltar esta diapositiva.
“Al final se lleva su panal: una tarjeta con sus habilidades y sus pruebas, un plan y un texto para presentarse sin CV. Y si quiere, aparece en un banco de talento donde las empresas la encuentran por lo que sabe hacer, no por su último 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CASE · 35 segundos
“¿Por qué tiene sentido? Para el Ministerio: no crea servicios nuevos, lleva más personas a los que ya existen. El asesor recibe un perfil ya armado. Y cada recomendación es explicable: pesos públicos y una matriz de transiciones entre ocupaciones basada en las competencias que comparten. Crece cargando datos oficiales, sin reprogramar. Para Tether: es un caso real de QVAC en un servicio público. IA local y privada, sin pagar a terceros por cada consulta, y que funciona aunque la red falle.”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 15 segundos
“El público potencial es la mayor parte de la fuerza laboral: el 69,8 % de los trabajadores tiene empleo informal. Empezamos por las cinco ocupaciones priorizadas por el Ministerio y lo mediremos en un piloto: personas que arman su panal, que se inscriben en Capacíta-T, que postulan a otra ocupación y que consiguen trabajo a los 3 y 6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 20 segundos
“Pedimos al Ministerio los estándares de competencia, la EDO 2026 y el catálogo de Capacíta-T, y un piloto en Centros de Empleo de tres regiones. Y a Tether, acompañamiento técnico de QVAC para un modelo en español y voz local. Rosa no tiene que empezar de cero. Su chamba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Dejar esta diapositiva durante las preguntas del jurado. Las diapositivas del anexo sirven para responder preguntas técnicas.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preguntas: “¿Cómo justifican las habilidades y las rutas?”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la pregunta: “¿Cómo saben que dos ocupaciones se relacionan?”. El MTPE pidió sustento técnico y mecanismos de validación: mismo cálculo probado de la app, pesos editables, contraste con avisos reales; siguiente paso: asesores y estándares oficiales.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para preguntas sobre privacidad y QVAC.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E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13201C"/>
        </a:solidFill>
      </p:bgPr>
    </p:bg>
    <p:spTree>
      <p:nvGrpSpPr>
        <p:cNvPr id="1" name=""/>
        <p:cNvGrpSpPr/>
        <p:nvPr/>
      </p:nvGrpSpPr>
      <p:grpSpPr>
        <a:xfrm>
          <a:off x="0" y="0"/>
          <a:ext cx="0" cy="0"/>
          <a:chOff x="0" y="0"/>
          <a:chExt cx="0" cy="0"/>
        </a:xfrm>
      </p:grpSpPr>
      <p:pic>
        <p:nvPicPr>
          <p:cNvPr id="2" name="Image 0" descr="/tmp/claude-0/-home-user-chambea/2d134649-ad5c-5a1a-b1b1-4929896b9e90/scratchpad/ppt/img/icono.png">    </p:cNvPr>
          <p:cNvPicPr>
            <a:picLocks noChangeAspect="1"/>
          </p:cNvPicPr>
          <p:nvPr/>
        </p:nvPicPr>
        <p:blipFill>
          <a:blip r:embed="rId1"/>
          <a:stretch>
            <a:fillRect/>
          </a:stretch>
        </p:blipFill>
        <p:spPr>
          <a:xfrm>
            <a:off x="11356848" y="6272784"/>
            <a:ext cx="329184" cy="329184"/>
          </a:xfrm>
          <a:prstGeom prst="rect">
            <a:avLst/>
          </a:prstGeom>
        </p:spPr>
      </p:pic>
      <p:sp>
        <p:nvSpPr>
          <p:cNvPr id="3" name="Text 0"/>
          <p:cNvSpPr/>
          <p:nvPr>
            <p:ph idx="101" type="title" hasCustomPrompt="1"/>
          </p:nvPr>
        </p:nvSpPr>
        <p:spPr>
          <a:xfrm>
            <a:off x="548640" y="868680"/>
            <a:ext cx="11064240" cy="868680"/>
          </a:xfrm>
          <a:prstGeom prst="rect">
            <a:avLst/>
          </a:prstGeom>
          <a:noFill/>
          <a:ln/>
        </p:spPr>
        <p:txBody>
          <a:bodyPr wrap="square" rtlCol="0"/>
          <a:lstStyle>
            <a:lvl1pPr algn="l" indent="0" marL="0">
              <a:buNone/>
              <a:defRPr lang="en-US" sz="3400" b="1" dirty="0">
                <a:solidFill>
                  <a:srgbClr val="FFFFFF"/>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de Chambea">    </p:cNvPr>
          <p:cNvPicPr>
            <a:picLocks noChangeAspect="1"/>
          </p:cNvPicPr>
          <p:nvPr/>
        </p:nvPicPr>
        <p:blipFill>
          <a:blip r:embed="rId1"/>
          <a:stretch>
            <a:fillRect/>
          </a:stretch>
        </p:blipFill>
        <p:spPr>
          <a:xfrm>
            <a:off x="640080" y="685800"/>
            <a:ext cx="3017520" cy="822960"/>
          </a:xfrm>
          <a:prstGeom prst="rect">
            <a:avLst/>
          </a:prstGeom>
        </p:spPr>
      </p:pic>
      <p:sp>
        <p:nvSpPr>
          <p:cNvPr id="3" name="Eslogan"/>
          <p:cNvSpPr txBox="1"/>
          <p:nvPr/>
        </p:nvSpPr>
        <p:spPr>
          <a:xfrm>
            <a:off x="640080" y="1828800"/>
            <a:ext cx="6583680" cy="1737360"/>
          </a:xfrm>
          <a:prstGeom prst="rect">
            <a:avLst/>
          </a:prstGeom>
          <a:noFill/>
          <a:ln/>
        </p:spPr>
        <p:txBody>
          <a:bodyPr wrap="square" lIns="0" tIns="0" rIns="0" bIns="0" rtlCol="0" anchor="t"/>
          <a:lstStyle/>
          <a:p>
            <a:pPr indent="0" marL="0">
              <a:buNone/>
            </a:pPr>
            <a:r>
              <a:rPr lang="en-US" sz="6000" b="1" dirty="0">
                <a:solidFill>
                  <a:srgbClr val="FFFFFF"/>
                </a:solidFill>
              </a:rPr>
              <a:t>Tu chamba </a:t>
            </a:r>
            <a:pPr indent="0" marL="0">
              <a:buNone/>
            </a:pPr>
            <a:r>
              <a:rPr lang="en-US" sz="6000" b="1" dirty="0">
                <a:solidFill>
                  <a:srgbClr val="F5B82E"/>
                </a:solidFill>
              </a:rPr>
              <a:t>cuenta.</a:t>
            </a:r>
            <a:endParaRPr lang="en-US" sz="6000" dirty="0"/>
          </a:p>
        </p:txBody>
      </p:sp>
      <p:sp>
        <p:nvSpPr>
          <p:cNvPr id="4" name="Propuesta"/>
          <p:cNvSpPr txBox="1"/>
          <p:nvPr/>
        </p:nvSpPr>
        <p:spPr>
          <a:xfrm>
            <a:off x="640080" y="3794760"/>
            <a:ext cx="6035040" cy="1097280"/>
          </a:xfrm>
          <a:prstGeom prst="rect">
            <a:avLst/>
          </a:prstGeom>
          <a:noFill/>
          <a:ln/>
        </p:spPr>
        <p:txBody>
          <a:bodyPr wrap="square" lIns="0" tIns="0" rIns="0" bIns="0" rtlCol="0" anchor="t"/>
          <a:lstStyle/>
          <a:p>
            <a:pPr indent="0" marL="0">
              <a:buNone/>
            </a:pPr>
            <a:r>
              <a:rPr lang="en-US" sz="2000" dirty="0">
                <a:solidFill>
                  <a:srgbClr val="C5D3CF"/>
                </a:solidFill>
              </a:rPr>
              <a:t>Reconocemos lo que ya sabes hacer y lo convertimos en tu siguiente trabajo, con los servicios gratuitos del Estado.</a:t>
            </a:r>
            <a:endParaRPr lang="en-US" sz="2000" dirty="0"/>
          </a:p>
        </p:txBody>
      </p:sp>
      <p:sp>
        <p:nvSpPr>
          <p:cNvPr id="5" name="Concurso"/>
          <p:cNvSpPr txBox="1"/>
          <p:nvPr/>
        </p:nvSpPr>
        <p:spPr>
          <a:xfrm>
            <a:off x="640080" y="5989320"/>
            <a:ext cx="6858000" cy="365760"/>
          </a:xfrm>
          <a:prstGeom prst="rect">
            <a:avLst/>
          </a:prstGeom>
          <a:noFill/>
          <a:ln/>
        </p:spPr>
        <p:txBody>
          <a:bodyPr wrap="square" lIns="0" tIns="0" rIns="0" bIns="0" rtlCol="0" anchor="ctr"/>
          <a:lstStyle/>
          <a:p>
            <a:pPr indent="0" marL="0">
              <a:buNone/>
            </a:pPr>
            <a:r>
              <a:rPr lang="en-US" sz="1200" dirty="0">
                <a:solidFill>
                  <a:srgbClr val="C5D3CF"/>
                </a:solidFill>
              </a:rPr>
              <a:t>Innovathon Ulima x Tether 2026 · Reto del Ministerio de Trabajo y Promoción del Empleo</a:t>
            </a:r>
            <a:endParaRPr lang="en-US" sz="1200" dirty="0"/>
          </a:p>
        </p:txBody>
      </p:sp>
      <p:sp>
        <p:nvSpPr>
          <p:cNvPr id="6" name="Marco Mockup panal"/>
          <p:cNvSpPr/>
          <p:nvPr/>
        </p:nvSpPr>
        <p:spPr>
          <a:xfrm>
            <a:off x="7434072" y="621792"/>
            <a:ext cx="2536442" cy="5340096"/>
          </a:xfrm>
          <a:prstGeom prst="roundRect">
            <a:avLst>
              <a:gd name="adj" fmla="val 7931"/>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7" name="Mockup panal" descr="Mockup panal">    </p:cNvPr>
          <p:cNvPicPr>
            <a:picLocks noChangeAspect="1"/>
          </p:cNvPicPr>
          <p:nvPr/>
        </p:nvPicPr>
        <p:blipFill>
          <a:blip r:embed="rId2"/>
          <a:stretch>
            <a:fillRect/>
          </a:stretch>
        </p:blipFill>
        <p:spPr>
          <a:xfrm>
            <a:off x="7498080" y="685800"/>
            <a:ext cx="2408426" cy="5212080"/>
          </a:xfrm>
          <a:prstGeom prst="rect">
            <a:avLst/>
          </a:prstGeom>
        </p:spPr>
      </p:pic>
      <p:sp>
        <p:nvSpPr>
          <p:cNvPr id="8" name="Marco Mockup rutas"/>
          <p:cNvSpPr/>
          <p:nvPr/>
        </p:nvSpPr>
        <p:spPr>
          <a:xfrm>
            <a:off x="9582912" y="1078992"/>
            <a:ext cx="2536442" cy="5340096"/>
          </a:xfrm>
          <a:prstGeom prst="roundRect">
            <a:avLst>
              <a:gd name="adj" fmla="val 7931"/>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9" name="Mockup rutas" descr="Mockup rutas">    </p:cNvPr>
          <p:cNvPicPr>
            <a:picLocks noChangeAspect="1"/>
          </p:cNvPicPr>
          <p:nvPr/>
        </p:nvPicPr>
        <p:blipFill>
          <a:blip r:embed="rId3"/>
          <a:stretch>
            <a:fillRect/>
          </a:stretch>
        </p:blipFill>
        <p:spPr>
          <a:xfrm>
            <a:off x="9646920" y="1143000"/>
            <a:ext cx="2408426" cy="5212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01 · PROBLEM</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Rosa sabe hacer mucho, pero </a:t>
            </a:r>
            <a:pPr algn="l" indent="0" marL="0">
              <a:buNone/>
            </a:pPr>
            <a:r>
              <a:rPr lang="en-US" sz="3400" b="1" dirty="0">
                <a:solidFill>
                  <a:srgbClr val="5FD3A9"/>
                </a:solidFill>
              </a:rPr>
              <a:t>nada lo demuestra</a:t>
            </a:r>
            <a:endParaRPr lang="en-US" sz="3400" dirty="0"/>
          </a:p>
        </p:txBody>
      </p:sp>
      <p:sp>
        <p:nvSpPr>
          <p:cNvPr id="4" name="Hexágono Abeja cajera"/>
          <p:cNvSpPr/>
          <p:nvPr/>
        </p:nvSpPr>
        <p:spPr>
          <a:xfrm>
            <a:off x="685800" y="2103120"/>
            <a:ext cx="2926080" cy="2533985"/>
          </a:xfrm>
          <a:prstGeom prst="hexagon">
            <a:avLst/>
          </a:prstGeom>
          <a:solidFill>
            <a:srgbClr val="FFF6DE"/>
          </a:solidFill>
          <a:ln w="38100">
            <a:solidFill>
              <a:srgbClr val="26A17B"/>
            </a:solidFill>
            <a:prstDash val="solid"/>
          </a:ln>
        </p:spPr>
      </p:sp>
      <p:pic>
        <p:nvPicPr>
          <p:cNvPr id="5" name="Abeja cajera" descr="Abeja cajera">    </p:cNvPr>
          <p:cNvPicPr>
            <a:picLocks noChangeAspect="1"/>
          </p:cNvPicPr>
          <p:nvPr/>
        </p:nvPicPr>
        <p:blipFill>
          <a:blip r:embed="rId1"/>
          <a:stretch>
            <a:fillRect/>
          </a:stretch>
        </p:blipFill>
        <p:spPr>
          <a:xfrm>
            <a:off x="983207" y="2204479"/>
            <a:ext cx="2331266" cy="2331266"/>
          </a:xfrm>
          <a:prstGeom prst="rect">
            <a:avLst/>
          </a:prstGeom>
        </p:spPr>
      </p:pic>
      <p:sp>
        <p:nvSpPr>
          <p:cNvPr id="6" name="Text 3"/>
          <p:cNvSpPr txBox="1"/>
          <p:nvPr/>
        </p:nvSpPr>
        <p:spPr>
          <a:xfrm>
            <a:off x="685800" y="4754880"/>
            <a:ext cx="3017520" cy="914400"/>
          </a:xfrm>
          <a:prstGeom prst="rect">
            <a:avLst/>
          </a:prstGeom>
          <a:noFill/>
          <a:ln/>
        </p:spPr>
        <p:txBody>
          <a:bodyPr wrap="square" lIns="0" tIns="0" rIns="0" bIns="0" rtlCol="0" anchor="t"/>
          <a:lstStyle/>
          <a:p>
            <a:pPr algn="ctr" indent="0" marL="0">
              <a:buNone/>
            </a:pPr>
            <a:r>
              <a:rPr lang="en-US" sz="1500" b="1" dirty="0">
                <a:solidFill>
                  <a:srgbClr val="FFFFFF"/>
                </a:solidFill>
              </a:rPr>
              <a:t>Rosa, 41 años</a:t>
            </a:r>
            <a:endParaRPr lang="en-US" sz="1500" dirty="0"/>
          </a:p>
          <a:p>
            <a:pPr algn="ctr" indent="0" marL="0">
              <a:buNone/>
            </a:pPr>
            <a:r>
              <a:rPr lang="en-US" sz="1500" dirty="0">
                <a:solidFill>
                  <a:srgbClr val="C5D3CF"/>
                </a:solidFill>
              </a:rPr>
              <a:t>Cajera en un supermercado de Lima</a:t>
            </a:r>
            <a:endParaRPr lang="en-US" sz="1500" dirty="0"/>
          </a:p>
          <a:p>
            <a:pPr algn="ctr" indent="0" marL="0">
              <a:buNone/>
            </a:pPr>
            <a:r>
              <a:rPr lang="en-US" sz="1200" i="1" dirty="0">
                <a:solidFill>
                  <a:srgbClr val="F5B82E"/>
                </a:solidFill>
              </a:rPr>
              <a:t>Caso ilustrativo</a:t>
            </a:r>
            <a:endParaRPr lang="en-US" sz="1500" dirty="0"/>
          </a:p>
        </p:txBody>
      </p:sp>
      <p:sp>
        <p:nvSpPr>
          <p:cNvPr id="7" name="Hexágono 1"/>
          <p:cNvSpPr txBox="1"/>
          <p:nvPr/>
        </p:nvSpPr>
        <p:spPr>
          <a:xfrm>
            <a:off x="4206240" y="2011680"/>
            <a:ext cx="566928" cy="490960"/>
          </a:xfrm>
          <a:prstGeom prst="hexagon">
            <a:avLst/>
          </a:prstGeom>
          <a:solidFill>
            <a:srgbClr val="F5B82E"/>
          </a:solidFill>
          <a:ln/>
        </p:spPr>
        <p:txBody>
          <a:bodyPr wrap="square" lIns="0" tIns="0" rIns="0" bIns="0" rtlCol="0" anchor="ctr"/>
          <a:lstStyle/>
          <a:p>
            <a:pPr algn="ctr" indent="0" marL="0">
              <a:buNone/>
            </a:pPr>
            <a:r>
              <a:rPr lang="en-US" sz="1800" b="1" dirty="0">
                <a:solidFill>
                  <a:srgbClr val="0E1A17"/>
                </a:solidFill>
              </a:rPr>
              <a:t>1</a:t>
            </a:r>
            <a:endParaRPr lang="en-US" sz="1800" dirty="0"/>
          </a:p>
        </p:txBody>
      </p:sp>
      <p:sp>
        <p:nvSpPr>
          <p:cNvPr id="8" name="Text 5"/>
          <p:cNvSpPr txBox="1"/>
          <p:nvPr/>
        </p:nvSpPr>
        <p:spPr>
          <a:xfrm>
            <a:off x="4983480" y="1975104"/>
            <a:ext cx="6675120" cy="868680"/>
          </a:xfrm>
          <a:prstGeom prst="rect">
            <a:avLst/>
          </a:prstGeom>
          <a:noFill/>
          <a:ln/>
        </p:spPr>
        <p:txBody>
          <a:bodyPr wrap="square" lIns="0" tIns="0" rIns="0" bIns="0" rtlCol="0" anchor="t"/>
          <a:lstStyle/>
          <a:p>
            <a:pPr indent="0" marL="0">
              <a:buNone/>
            </a:pPr>
            <a:r>
              <a:rPr lang="en-US" sz="1800" b="1" dirty="0">
                <a:solidFill>
                  <a:srgbClr val="FFFFFF"/>
                </a:solidFill>
              </a:rPr>
              <a:t>8 años en caja</a:t>
            </a:r>
            <a:endParaRPr lang="en-US" sz="1500" dirty="0"/>
          </a:p>
          <a:p>
            <a:pPr indent="0" marL="0">
              <a:buNone/>
            </a:pPr>
            <a:r>
              <a:rPr lang="en-US" sz="1500" dirty="0">
                <a:solidFill>
                  <a:srgbClr val="C5D3CF"/>
                </a:solidFill>
              </a:rPr>
              <a:t>La dejan cerrar la caja sola: nunca le falta un sol.</a:t>
            </a:r>
            <a:endParaRPr lang="en-US" sz="1500" dirty="0"/>
          </a:p>
        </p:txBody>
      </p:sp>
      <p:sp>
        <p:nvSpPr>
          <p:cNvPr id="9" name="Hexágono 2"/>
          <p:cNvSpPr txBox="1"/>
          <p:nvPr/>
        </p:nvSpPr>
        <p:spPr>
          <a:xfrm>
            <a:off x="4206240" y="3035808"/>
            <a:ext cx="566928" cy="490960"/>
          </a:xfrm>
          <a:prstGeom prst="hexagon">
            <a:avLst/>
          </a:prstGeom>
          <a:solidFill>
            <a:srgbClr val="F5B82E"/>
          </a:solidFill>
          <a:ln/>
        </p:spPr>
        <p:txBody>
          <a:bodyPr wrap="square" lIns="0" tIns="0" rIns="0" bIns="0" rtlCol="0" anchor="ctr"/>
          <a:lstStyle/>
          <a:p>
            <a:pPr algn="ctr" indent="0" marL="0">
              <a:buNone/>
            </a:pPr>
            <a:r>
              <a:rPr lang="en-US" sz="1800" b="1" dirty="0">
                <a:solidFill>
                  <a:srgbClr val="0E1A17"/>
                </a:solidFill>
              </a:rPr>
              <a:t>2</a:t>
            </a:r>
            <a:endParaRPr lang="en-US" sz="1800" dirty="0"/>
          </a:p>
        </p:txBody>
      </p:sp>
      <p:sp>
        <p:nvSpPr>
          <p:cNvPr id="10" name="Text 7"/>
          <p:cNvSpPr txBox="1"/>
          <p:nvPr/>
        </p:nvSpPr>
        <p:spPr>
          <a:xfrm>
            <a:off x="4983480" y="2999232"/>
            <a:ext cx="6675120" cy="868680"/>
          </a:xfrm>
          <a:prstGeom prst="rect">
            <a:avLst/>
          </a:prstGeom>
          <a:noFill/>
          <a:ln/>
        </p:spPr>
        <p:txBody>
          <a:bodyPr wrap="square" lIns="0" tIns="0" rIns="0" bIns="0" rtlCol="0" anchor="t"/>
          <a:lstStyle/>
          <a:p>
            <a:pPr indent="0" marL="0">
              <a:buNone/>
            </a:pPr>
            <a:r>
              <a:rPr lang="en-US" sz="1800" b="1" dirty="0">
                <a:solidFill>
                  <a:srgbClr val="FFFFFF"/>
                </a:solidFill>
              </a:rPr>
              <a:t>Llegó la automatización</a:t>
            </a:r>
            <a:endParaRPr lang="en-US" sz="1500" dirty="0"/>
          </a:p>
          <a:p>
            <a:pPr indent="0" marL="0">
              <a:buNone/>
            </a:pPr>
            <a:r>
              <a:rPr lang="en-US" sz="1500" dirty="0">
                <a:solidFill>
                  <a:srgbClr val="C5D3CF"/>
                </a:solidFill>
              </a:rPr>
              <a:t>El supermercado instaló cajas de autoservicio y le quitaron un turno.</a:t>
            </a:r>
            <a:endParaRPr lang="en-US" sz="1500" dirty="0"/>
          </a:p>
        </p:txBody>
      </p:sp>
      <p:sp>
        <p:nvSpPr>
          <p:cNvPr id="11" name="Hexágono 3"/>
          <p:cNvSpPr txBox="1"/>
          <p:nvPr/>
        </p:nvSpPr>
        <p:spPr>
          <a:xfrm>
            <a:off x="4206240" y="4059936"/>
            <a:ext cx="566928" cy="490960"/>
          </a:xfrm>
          <a:prstGeom prst="hexagon">
            <a:avLst/>
          </a:prstGeom>
          <a:solidFill>
            <a:srgbClr val="F5B82E"/>
          </a:solidFill>
          <a:ln/>
        </p:spPr>
        <p:txBody>
          <a:bodyPr wrap="square" lIns="0" tIns="0" rIns="0" bIns="0" rtlCol="0" anchor="ctr"/>
          <a:lstStyle/>
          <a:p>
            <a:pPr algn="ctr" indent="0" marL="0">
              <a:buNone/>
            </a:pPr>
            <a:r>
              <a:rPr lang="en-US" sz="1800" b="1" dirty="0">
                <a:solidFill>
                  <a:srgbClr val="0E1A17"/>
                </a:solidFill>
              </a:rPr>
              <a:t>3</a:t>
            </a:r>
            <a:endParaRPr lang="en-US" sz="1800" dirty="0"/>
          </a:p>
        </p:txBody>
      </p:sp>
      <p:sp>
        <p:nvSpPr>
          <p:cNvPr id="12" name="Text 9"/>
          <p:cNvSpPr txBox="1"/>
          <p:nvPr/>
        </p:nvSpPr>
        <p:spPr>
          <a:xfrm>
            <a:off x="4983480" y="4023360"/>
            <a:ext cx="6675120" cy="868680"/>
          </a:xfrm>
          <a:prstGeom prst="rect">
            <a:avLst/>
          </a:prstGeom>
          <a:noFill/>
          <a:ln/>
        </p:spPr>
        <p:txBody>
          <a:bodyPr wrap="square" lIns="0" tIns="0" rIns="0" bIns="0" rtlCol="0" anchor="t"/>
          <a:lstStyle/>
          <a:p>
            <a:pPr indent="0" marL="0">
              <a:buNone/>
            </a:pPr>
            <a:r>
              <a:rPr lang="en-US" sz="1800" b="1" dirty="0">
                <a:solidFill>
                  <a:srgbClr val="FFFFFF"/>
                </a:solidFill>
              </a:rPr>
              <a:t>Solo busca «cajera»</a:t>
            </a:r>
            <a:endParaRPr lang="en-US" sz="1500" dirty="0"/>
          </a:p>
          <a:p>
            <a:pPr indent="0" marL="0">
              <a:buNone/>
            </a:pPr>
            <a:r>
              <a:rPr lang="en-US" sz="1500" dirty="0">
                <a:solidFill>
                  <a:srgbClr val="C5D3CF"/>
                </a:solidFill>
              </a:rPr>
              <a:t>Siente que 8 años «solo sirven para cobrar» y no ve otra salida.</a:t>
            </a:r>
            <a:endParaRPr lang="en-US" sz="1500" dirty="0"/>
          </a:p>
        </p:txBody>
      </p:sp>
      <p:sp>
        <p:nvSpPr>
          <p:cNvPr id="13" name="Dato del reto"/>
          <p:cNvSpPr/>
          <p:nvPr/>
        </p:nvSpPr>
        <p:spPr>
          <a:xfrm>
            <a:off x="4206240" y="5166360"/>
            <a:ext cx="7452360" cy="914400"/>
          </a:xfrm>
          <a:prstGeom prst="roundRect">
            <a:avLst>
              <a:gd name="adj" fmla="val 15000"/>
            </a:avLst>
          </a:prstGeom>
          <a:solidFill>
            <a:srgbClr val="1A7A5C"/>
          </a:solidFill>
          <a:ln w="12700">
            <a:solidFill>
              <a:srgbClr val="2C3D38"/>
            </a:solidFill>
            <a:prstDash val="solid"/>
          </a:ln>
        </p:spPr>
      </p:sp>
      <p:sp>
        <p:nvSpPr>
          <p:cNvPr id="14" name="Estadística"/>
          <p:cNvSpPr txBox="1"/>
          <p:nvPr/>
        </p:nvSpPr>
        <p:spPr>
          <a:xfrm>
            <a:off x="4434840" y="5230368"/>
            <a:ext cx="7086600" cy="786384"/>
          </a:xfrm>
          <a:prstGeom prst="rect">
            <a:avLst/>
          </a:prstGeom>
          <a:noFill/>
          <a:ln/>
        </p:spPr>
        <p:txBody>
          <a:bodyPr wrap="square" lIns="0" tIns="0" rIns="0" bIns="0" rtlCol="0" anchor="ctr"/>
          <a:lstStyle/>
          <a:p>
            <a:pPr indent="0" marL="0">
              <a:buNone/>
            </a:pPr>
            <a:r>
              <a:rPr lang="en-US" sz="2600" b="1" dirty="0">
                <a:solidFill>
                  <a:srgbClr val="F5B82E"/>
                </a:solidFill>
              </a:rPr>
              <a:t>7 de cada 10</a:t>
            </a:r>
            <a:pPr indent="0" marL="0">
              <a:buNone/>
            </a:pPr>
            <a:r>
              <a:rPr lang="en-US" sz="1400" dirty="0">
                <a:solidFill>
                  <a:srgbClr val="FFFFFF"/>
                </a:solidFill>
              </a:rPr>
              <a:t>   trabajadores en el Perú desarrollaron su oficio en la práctica, sin certificados que lo respalden.</a:t>
            </a:r>
            <a:endParaRPr lang="en-US" sz="2600" dirty="0"/>
          </a:p>
        </p:txBody>
      </p:sp>
      <p:sp>
        <p:nvSpPr>
          <p:cNvPr id="15" name="Fuente"/>
          <p:cNvSpPr txBox="1"/>
          <p:nvPr/>
        </p:nvSpPr>
        <p:spPr>
          <a:xfrm>
            <a:off x="4206240" y="6144768"/>
            <a:ext cx="6400800" cy="256032"/>
          </a:xfrm>
          <a:prstGeom prst="rect">
            <a:avLst/>
          </a:prstGeom>
          <a:noFill/>
          <a:ln/>
        </p:spPr>
        <p:txBody>
          <a:bodyPr wrap="square" lIns="0" tIns="0" rIns="0" bIns="0" rtlCol="0" anchor="ctr"/>
          <a:lstStyle/>
          <a:p>
            <a:pPr indent="0" marL="0">
              <a:buNone/>
            </a:pPr>
            <a:r>
              <a:rPr lang="en-US" sz="1000" i="1" dirty="0">
                <a:solidFill>
                  <a:srgbClr val="C5D3CF"/>
                </a:solidFill>
              </a:rPr>
              <a:t>Fuente: bases del reto (MTPE). Rosa es un personaje ilustrativo.</a:t>
            </a:r>
            <a:endParaRPr lang="en-US" sz="10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02 · INSIGHT</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La confianza que se ganó </a:t>
            </a:r>
            <a:pPr algn="l" indent="0" marL="0">
              <a:buNone/>
            </a:pPr>
            <a:r>
              <a:rPr lang="en-US" sz="3400" b="1" dirty="0">
                <a:solidFill>
                  <a:srgbClr val="5FD3A9"/>
                </a:solidFill>
              </a:rPr>
              <a:t>se queda donde la ganó</a:t>
            </a:r>
            <a:endParaRPr lang="en-US" sz="3400" dirty="0"/>
          </a:p>
        </p:txBody>
      </p:sp>
      <p:sp>
        <p:nvSpPr>
          <p:cNvPr id="4" name="Hallazgo 1"/>
          <p:cNvSpPr/>
          <p:nvPr/>
        </p:nvSpPr>
        <p:spPr>
          <a:xfrm>
            <a:off x="548640" y="2057400"/>
            <a:ext cx="3520440" cy="2651760"/>
          </a:xfrm>
          <a:prstGeom prst="roundRect">
            <a:avLst>
              <a:gd name="adj" fmla="val 5172"/>
            </a:avLst>
          </a:prstGeom>
          <a:solidFill>
            <a:srgbClr val="1C2C27"/>
          </a:solidFill>
          <a:ln w="12700">
            <a:solidFill>
              <a:srgbClr val="2C3D38"/>
            </a:solidFill>
            <a:prstDash val="solid"/>
          </a:ln>
        </p:spPr>
      </p:sp>
      <p:sp>
        <p:nvSpPr>
          <p:cNvPr id="5" name="Hexágono 1"/>
          <p:cNvSpPr txBox="1"/>
          <p:nvPr/>
        </p:nvSpPr>
        <p:spPr>
          <a:xfrm>
            <a:off x="822960" y="2331720"/>
            <a:ext cx="685800" cy="593903"/>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1</a:t>
            </a:r>
            <a:endParaRPr lang="en-US" sz="2000" dirty="0"/>
          </a:p>
        </p:txBody>
      </p:sp>
      <p:sp>
        <p:nvSpPr>
          <p:cNvPr id="6" name="Text 4"/>
          <p:cNvSpPr txBox="1"/>
          <p:nvPr/>
        </p:nvSpPr>
        <p:spPr>
          <a:xfrm>
            <a:off x="822960" y="3108960"/>
            <a:ext cx="3017520" cy="685800"/>
          </a:xfrm>
          <a:prstGeom prst="rect">
            <a:avLst/>
          </a:prstGeom>
          <a:noFill/>
          <a:ln/>
        </p:spPr>
        <p:txBody>
          <a:bodyPr wrap="square" lIns="0" tIns="0" rIns="0" bIns="0" rtlCol="0" anchor="t"/>
          <a:lstStyle/>
          <a:p>
            <a:pPr indent="0" marL="0">
              <a:buNone/>
            </a:pPr>
            <a:r>
              <a:rPr lang="en-US" sz="1900" b="1" dirty="0">
                <a:solidFill>
                  <a:srgbClr val="FFFFFF"/>
                </a:solidFill>
              </a:rPr>
              <a:t>Habla por tareas</a:t>
            </a:r>
            <a:endParaRPr lang="en-US" sz="1900" dirty="0"/>
          </a:p>
        </p:txBody>
      </p:sp>
      <p:sp>
        <p:nvSpPr>
          <p:cNvPr id="7" name="Text 5"/>
          <p:cNvSpPr txBox="1"/>
          <p:nvPr/>
        </p:nvSpPr>
        <p:spPr>
          <a:xfrm>
            <a:off x="822960" y="3794760"/>
            <a:ext cx="3017520" cy="868680"/>
          </a:xfrm>
          <a:prstGeom prst="rect">
            <a:avLst/>
          </a:prstGeom>
          <a:noFill/>
          <a:ln/>
        </p:spPr>
        <p:txBody>
          <a:bodyPr wrap="square" lIns="0" tIns="0" rIns="0" bIns="0" rtlCol="0" anchor="t"/>
          <a:lstStyle/>
          <a:p>
            <a:pPr indent="0" marL="0">
              <a:buNone/>
            </a:pPr>
            <a:r>
              <a:rPr lang="en-US" sz="1500" dirty="0">
                <a:solidFill>
                  <a:srgbClr val="C5D3CF"/>
                </a:solidFill>
              </a:rPr>
              <a:t>«Soy cajera», «hago de todo». Nadie dice «manejo de efectivo» ni «honestidad».</a:t>
            </a:r>
            <a:endParaRPr lang="en-US" sz="1500" dirty="0"/>
          </a:p>
        </p:txBody>
      </p:sp>
      <p:sp>
        <p:nvSpPr>
          <p:cNvPr id="8" name="Hallazgo 2"/>
          <p:cNvSpPr/>
          <p:nvPr/>
        </p:nvSpPr>
        <p:spPr>
          <a:xfrm>
            <a:off x="4297680" y="2057400"/>
            <a:ext cx="3520440" cy="2651760"/>
          </a:xfrm>
          <a:prstGeom prst="roundRect">
            <a:avLst>
              <a:gd name="adj" fmla="val 5172"/>
            </a:avLst>
          </a:prstGeom>
          <a:solidFill>
            <a:srgbClr val="1C2C27"/>
          </a:solidFill>
          <a:ln w="12700">
            <a:solidFill>
              <a:srgbClr val="2C3D38"/>
            </a:solidFill>
            <a:prstDash val="solid"/>
          </a:ln>
        </p:spPr>
      </p:sp>
      <p:sp>
        <p:nvSpPr>
          <p:cNvPr id="9" name="Hexágono 2"/>
          <p:cNvSpPr txBox="1"/>
          <p:nvPr/>
        </p:nvSpPr>
        <p:spPr>
          <a:xfrm>
            <a:off x="4572000" y="2331720"/>
            <a:ext cx="685800" cy="593903"/>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2</a:t>
            </a:r>
            <a:endParaRPr lang="en-US" sz="2000" dirty="0"/>
          </a:p>
        </p:txBody>
      </p:sp>
      <p:sp>
        <p:nvSpPr>
          <p:cNvPr id="10" name="Text 8"/>
          <p:cNvSpPr txBox="1"/>
          <p:nvPr/>
        </p:nvSpPr>
        <p:spPr>
          <a:xfrm>
            <a:off x="4572000" y="3108960"/>
            <a:ext cx="3017520" cy="685800"/>
          </a:xfrm>
          <a:prstGeom prst="rect">
            <a:avLst/>
          </a:prstGeom>
          <a:noFill/>
          <a:ln/>
        </p:spPr>
        <p:txBody>
          <a:bodyPr wrap="square" lIns="0" tIns="0" rIns="0" bIns="0" rtlCol="0" anchor="t"/>
          <a:lstStyle/>
          <a:p>
            <a:pPr indent="0" marL="0">
              <a:buNone/>
            </a:pPr>
            <a:r>
              <a:rPr lang="en-US" sz="1900" b="1" dirty="0">
                <a:solidFill>
                  <a:srgbClr val="FFFFFF"/>
                </a:solidFill>
              </a:rPr>
              <a:t>Su prueba es la confianza</a:t>
            </a:r>
            <a:endParaRPr lang="en-US" sz="1900" dirty="0"/>
          </a:p>
        </p:txBody>
      </p:sp>
      <p:sp>
        <p:nvSpPr>
          <p:cNvPr id="11" name="Text 9"/>
          <p:cNvSpPr txBox="1"/>
          <p:nvPr/>
        </p:nvSpPr>
        <p:spPr>
          <a:xfrm>
            <a:off x="4572000" y="3794760"/>
            <a:ext cx="3017520" cy="868680"/>
          </a:xfrm>
          <a:prstGeom prst="rect">
            <a:avLst/>
          </a:prstGeom>
          <a:noFill/>
          <a:ln/>
        </p:spPr>
        <p:txBody>
          <a:bodyPr wrap="square" lIns="0" tIns="0" rIns="0" bIns="0" rtlCol="0" anchor="t"/>
          <a:lstStyle/>
          <a:p>
            <a:pPr indent="0" marL="0">
              <a:buNone/>
            </a:pPr>
            <a:r>
              <a:rPr lang="en-US" sz="1500" dirty="0">
                <a:solidFill>
                  <a:srgbClr val="C5D3CF"/>
                </a:solidFill>
              </a:rPr>
              <a:t>«Me dejan cerrar la caja». Pero esa confianza no viaja con ella a otro trabajo.</a:t>
            </a:r>
            <a:endParaRPr lang="en-US" sz="1500" dirty="0"/>
          </a:p>
        </p:txBody>
      </p:sp>
      <p:sp>
        <p:nvSpPr>
          <p:cNvPr id="12" name="Hallazgo 3"/>
          <p:cNvSpPr/>
          <p:nvPr/>
        </p:nvSpPr>
        <p:spPr>
          <a:xfrm>
            <a:off x="8046720" y="2057400"/>
            <a:ext cx="3520440" cy="2651760"/>
          </a:xfrm>
          <a:prstGeom prst="roundRect">
            <a:avLst>
              <a:gd name="adj" fmla="val 5172"/>
            </a:avLst>
          </a:prstGeom>
          <a:solidFill>
            <a:srgbClr val="1C2C27"/>
          </a:solidFill>
          <a:ln w="12700">
            <a:solidFill>
              <a:srgbClr val="2C3D38"/>
            </a:solidFill>
            <a:prstDash val="solid"/>
          </a:ln>
        </p:spPr>
      </p:sp>
      <p:sp>
        <p:nvSpPr>
          <p:cNvPr id="13" name="Hexágono 3"/>
          <p:cNvSpPr txBox="1"/>
          <p:nvPr/>
        </p:nvSpPr>
        <p:spPr>
          <a:xfrm>
            <a:off x="8321040" y="2331720"/>
            <a:ext cx="685800" cy="593903"/>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3</a:t>
            </a:r>
            <a:endParaRPr lang="en-US" sz="2000" dirty="0"/>
          </a:p>
        </p:txBody>
      </p:sp>
      <p:sp>
        <p:nvSpPr>
          <p:cNvPr id="14" name="Text 12"/>
          <p:cNvSpPr txBox="1"/>
          <p:nvPr/>
        </p:nvSpPr>
        <p:spPr>
          <a:xfrm>
            <a:off x="8321040" y="3108960"/>
            <a:ext cx="3017520" cy="685800"/>
          </a:xfrm>
          <a:prstGeom prst="rect">
            <a:avLst/>
          </a:prstGeom>
          <a:noFill/>
          <a:ln/>
        </p:spPr>
        <p:txBody>
          <a:bodyPr wrap="square" lIns="0" tIns="0" rIns="0" bIns="0" rtlCol="0" anchor="t"/>
          <a:lstStyle/>
          <a:p>
            <a:pPr indent="0" marL="0">
              <a:buNone/>
            </a:pPr>
            <a:r>
              <a:rPr lang="en-US" sz="1900" b="1" dirty="0">
                <a:solidFill>
                  <a:srgbClr val="FFFFFF"/>
                </a:solidFill>
              </a:rPr>
              <a:t>Solo busca su mismo puesto</a:t>
            </a:r>
            <a:endParaRPr lang="en-US" sz="1900" dirty="0"/>
          </a:p>
        </p:txBody>
      </p:sp>
      <p:sp>
        <p:nvSpPr>
          <p:cNvPr id="15" name="Text 13"/>
          <p:cNvSpPr txBox="1"/>
          <p:nvPr/>
        </p:nvSpPr>
        <p:spPr>
          <a:xfrm>
            <a:off x="8321040" y="3794760"/>
            <a:ext cx="3017520" cy="868680"/>
          </a:xfrm>
          <a:prstGeom prst="rect">
            <a:avLst/>
          </a:prstGeom>
          <a:noFill/>
          <a:ln/>
        </p:spPr>
        <p:txBody>
          <a:bodyPr wrap="square" lIns="0" tIns="0" rIns="0" bIns="0" rtlCol="0" anchor="t"/>
          <a:lstStyle/>
          <a:p>
            <a:pPr indent="0" marL="0">
              <a:buNone/>
            </a:pPr>
            <a:r>
              <a:rPr lang="en-US" sz="1500" dirty="0">
                <a:solidFill>
                  <a:srgbClr val="C5D3CF"/>
                </a:solidFill>
              </a:rPr>
              <a:t>No postula a «asesora de ventas», aunque le piden casi lo mismo que ya hace.</a:t>
            </a:r>
            <a:endParaRPr lang="en-US" sz="1500" dirty="0"/>
          </a:p>
        </p:txBody>
      </p:sp>
      <p:sp>
        <p:nvSpPr>
          <p:cNvPr id="16" name="Insight central"/>
          <p:cNvSpPr txBox="1"/>
          <p:nvPr/>
        </p:nvSpPr>
        <p:spPr>
          <a:xfrm>
            <a:off x="548640" y="5029200"/>
            <a:ext cx="11064240" cy="685800"/>
          </a:xfrm>
          <a:prstGeom prst="rect">
            <a:avLst/>
          </a:prstGeom>
          <a:noFill/>
          <a:ln/>
        </p:spPr>
        <p:txBody>
          <a:bodyPr wrap="square" lIns="0" tIns="0" rIns="0" bIns="0" rtlCol="0" anchor="ctr"/>
          <a:lstStyle/>
          <a:p>
            <a:pPr indent="0" marL="0">
              <a:buNone/>
            </a:pPr>
            <a:r>
              <a:rPr lang="en-US" sz="2200" b="1" i="1" dirty="0">
                <a:solidFill>
                  <a:srgbClr val="F5B82E"/>
                </a:solidFill>
              </a:rPr>
              <a:t>Lo que sabe no tiene nombre ni prueba. Por eso cambiar de trabajo le parece empezar de cero.</a:t>
            </a:r>
            <a:endParaRPr lang="en-US" sz="2200" dirty="0"/>
          </a:p>
        </p:txBody>
      </p:sp>
      <p:sp>
        <p:nvSpPr>
          <p:cNvPr id="17" name="Fuente"/>
          <p:cNvSpPr txBox="1"/>
          <p:nvPr/>
        </p:nvSpPr>
        <p:spPr>
          <a:xfrm>
            <a:off x="548640" y="6126480"/>
            <a:ext cx="9601200" cy="274320"/>
          </a:xfrm>
          <a:prstGeom prst="rect">
            <a:avLst/>
          </a:prstGeom>
          <a:noFill/>
          <a:ln/>
        </p:spPr>
        <p:txBody>
          <a:bodyPr wrap="square" lIns="0" tIns="0" rIns="0" bIns="0" rtlCol="0" anchor="ctr"/>
          <a:lstStyle/>
          <a:p>
            <a:pPr indent="0" marL="0">
              <a:buNone/>
            </a:pPr>
            <a:r>
              <a:rPr lang="en-US" sz="1000" i="1" dirty="0">
                <a:solidFill>
                  <a:srgbClr val="C5D3CF"/>
                </a:solidFill>
              </a:rPr>
              <a:t>Hallazgos construidos con lo que compartió el MTPE en el Open Day y el Workshop; en validación con usuarios.</a:t>
            </a:r>
            <a:endParaRPr lang="en-US" sz="10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03 · SOLUTION</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Chambea: tu experiencia, </a:t>
            </a:r>
            <a:pPr algn="l" indent="0" marL="0">
              <a:buNone/>
            </a:pPr>
            <a:r>
              <a:rPr lang="en-US" sz="3400" b="1" dirty="0">
                <a:solidFill>
                  <a:srgbClr val="5FD3A9"/>
                </a:solidFill>
              </a:rPr>
              <a:t>con nombre y prueba</a:t>
            </a:r>
            <a:endParaRPr lang="en-US" sz="3400" dirty="0"/>
          </a:p>
        </p:txBody>
      </p:sp>
      <p:sp>
        <p:nvSpPr>
          <p:cNvPr id="4" name="Hexágono 1"/>
          <p:cNvSpPr txBox="1"/>
          <p:nvPr/>
        </p:nvSpPr>
        <p:spPr>
          <a:xfrm>
            <a:off x="1188720" y="2011680"/>
            <a:ext cx="1417320" cy="1227399"/>
          </a:xfrm>
          <a:prstGeom prst="hexagon">
            <a:avLst/>
          </a:prstGeom>
          <a:solidFill>
            <a:srgbClr val="CDEBDF"/>
          </a:solidFill>
          <a:ln/>
        </p:spPr>
        <p:txBody>
          <a:bodyPr wrap="square" lIns="0" tIns="0" rIns="0" bIns="0" rtlCol="0" anchor="ctr"/>
          <a:lstStyle/>
          <a:p>
            <a:pPr algn="ctr" indent="0" marL="0">
              <a:buNone/>
            </a:pPr>
            <a:r>
              <a:rPr lang="en-US" sz="3400" b="1" dirty="0">
                <a:solidFill>
                  <a:srgbClr val="0E1A17"/>
                </a:solidFill>
              </a:rPr>
              <a:t>1</a:t>
            </a:r>
            <a:endParaRPr lang="en-US" sz="3400" dirty="0"/>
          </a:p>
        </p:txBody>
      </p:sp>
      <p:sp>
        <p:nvSpPr>
          <p:cNvPr id="5" name="Text 3"/>
          <p:cNvSpPr txBox="1"/>
          <p:nvPr/>
        </p:nvSpPr>
        <p:spPr>
          <a:xfrm>
            <a:off x="685800" y="3383280"/>
            <a:ext cx="2514600" cy="411480"/>
          </a:xfrm>
          <a:prstGeom prst="rect">
            <a:avLst/>
          </a:prstGeom>
          <a:noFill/>
          <a:ln/>
        </p:spPr>
        <p:txBody>
          <a:bodyPr wrap="square" lIns="0" tIns="0" rIns="0" bIns="0" rtlCol="0" anchor="t"/>
          <a:lstStyle/>
          <a:p>
            <a:pPr algn="ctr" indent="0" marL="0">
              <a:buNone/>
            </a:pPr>
            <a:r>
              <a:rPr lang="en-US" sz="2000" b="1" dirty="0">
                <a:solidFill>
                  <a:srgbClr val="FFFFFF"/>
                </a:solidFill>
              </a:rPr>
              <a:t>Cuéntalo</a:t>
            </a:r>
            <a:endParaRPr lang="en-US" sz="2000" dirty="0"/>
          </a:p>
        </p:txBody>
      </p:sp>
      <p:sp>
        <p:nvSpPr>
          <p:cNvPr id="6" name="Text 4"/>
          <p:cNvSpPr txBox="1"/>
          <p:nvPr/>
        </p:nvSpPr>
        <p:spPr>
          <a:xfrm>
            <a:off x="685800" y="3840480"/>
            <a:ext cx="2514600" cy="777240"/>
          </a:xfrm>
          <a:prstGeom prst="rect">
            <a:avLst/>
          </a:prstGeom>
          <a:noFill/>
          <a:ln/>
        </p:spPr>
        <p:txBody>
          <a:bodyPr wrap="square" lIns="0" tIns="0" rIns="0" bIns="0" rtlCol="0" anchor="t"/>
          <a:lstStyle/>
          <a:p>
            <a:pPr algn="ctr" indent="0" marL="0">
              <a:buNone/>
            </a:pPr>
            <a:r>
              <a:rPr lang="en-US" sz="1400" dirty="0">
                <a:solidFill>
                  <a:srgbClr val="C5D3CF"/>
                </a:solidFill>
              </a:rPr>
              <a:t>Con tus palabras o tu voz. Sin CV.</a:t>
            </a:r>
            <a:endParaRPr lang="en-US" sz="1400" dirty="0"/>
          </a:p>
        </p:txBody>
      </p:sp>
      <p:sp>
        <p:nvSpPr>
          <p:cNvPr id="7" name="Hexágono 2"/>
          <p:cNvSpPr txBox="1"/>
          <p:nvPr/>
        </p:nvSpPr>
        <p:spPr>
          <a:xfrm>
            <a:off x="4023360" y="2011680"/>
            <a:ext cx="1417320" cy="1227399"/>
          </a:xfrm>
          <a:prstGeom prst="hexagon">
            <a:avLst/>
          </a:prstGeom>
          <a:solidFill>
            <a:srgbClr val="F5B82E"/>
          </a:solidFill>
          <a:ln/>
        </p:spPr>
        <p:txBody>
          <a:bodyPr wrap="square" lIns="0" tIns="0" rIns="0" bIns="0" rtlCol="0" anchor="ctr"/>
          <a:lstStyle/>
          <a:p>
            <a:pPr algn="ctr" indent="0" marL="0">
              <a:buNone/>
            </a:pPr>
            <a:r>
              <a:rPr lang="en-US" sz="3400" b="1" dirty="0">
                <a:solidFill>
                  <a:srgbClr val="0E1A17"/>
                </a:solidFill>
              </a:rPr>
              <a:t>2</a:t>
            </a:r>
            <a:endParaRPr lang="en-US" sz="3400" dirty="0"/>
          </a:p>
        </p:txBody>
      </p:sp>
      <p:sp>
        <p:nvSpPr>
          <p:cNvPr id="8" name="Text 6"/>
          <p:cNvSpPr txBox="1"/>
          <p:nvPr/>
        </p:nvSpPr>
        <p:spPr>
          <a:xfrm>
            <a:off x="3520440" y="3383280"/>
            <a:ext cx="2514600" cy="411480"/>
          </a:xfrm>
          <a:prstGeom prst="rect">
            <a:avLst/>
          </a:prstGeom>
          <a:noFill/>
          <a:ln/>
        </p:spPr>
        <p:txBody>
          <a:bodyPr wrap="square" lIns="0" tIns="0" rIns="0" bIns="0" rtlCol="0" anchor="t"/>
          <a:lstStyle/>
          <a:p>
            <a:pPr algn="ctr" indent="0" marL="0">
              <a:buNone/>
            </a:pPr>
            <a:r>
              <a:rPr lang="en-US" sz="2000" b="1" dirty="0">
                <a:solidFill>
                  <a:srgbClr val="FFFFFF"/>
                </a:solidFill>
              </a:rPr>
              <a:t>Arma tu panal</a:t>
            </a:r>
            <a:endParaRPr lang="en-US" sz="2000" dirty="0"/>
          </a:p>
        </p:txBody>
      </p:sp>
      <p:sp>
        <p:nvSpPr>
          <p:cNvPr id="9" name="Text 7"/>
          <p:cNvSpPr txBox="1"/>
          <p:nvPr/>
        </p:nvSpPr>
        <p:spPr>
          <a:xfrm>
            <a:off x="3520440" y="3840480"/>
            <a:ext cx="2514600" cy="777240"/>
          </a:xfrm>
          <a:prstGeom prst="rect">
            <a:avLst/>
          </a:prstGeom>
          <a:noFill/>
          <a:ln/>
        </p:spPr>
        <p:txBody>
          <a:bodyPr wrap="square" lIns="0" tIns="0" rIns="0" bIns="0" rtlCol="0" anchor="t"/>
          <a:lstStyle/>
          <a:p>
            <a:pPr algn="ctr" indent="0" marL="0">
              <a:buNone/>
            </a:pPr>
            <a:r>
              <a:rPr lang="en-US" sz="1400" dirty="0">
                <a:solidFill>
                  <a:srgbClr val="C5D3CF"/>
                </a:solidFill>
              </a:rPr>
              <a:t>Tus tareas se vuelven habilidades, cada una con su prueba.</a:t>
            </a:r>
            <a:endParaRPr lang="en-US" sz="1400" dirty="0"/>
          </a:p>
        </p:txBody>
      </p:sp>
      <p:sp>
        <p:nvSpPr>
          <p:cNvPr id="10" name="Hexágono 3"/>
          <p:cNvSpPr txBox="1"/>
          <p:nvPr/>
        </p:nvSpPr>
        <p:spPr>
          <a:xfrm>
            <a:off x="6858000" y="2011680"/>
            <a:ext cx="1417320" cy="1227399"/>
          </a:xfrm>
          <a:prstGeom prst="hexagon">
            <a:avLst/>
          </a:prstGeom>
          <a:solidFill>
            <a:srgbClr val="E3E9E7"/>
          </a:solidFill>
          <a:ln/>
        </p:spPr>
        <p:txBody>
          <a:bodyPr wrap="square" lIns="0" tIns="0" rIns="0" bIns="0" rtlCol="0" anchor="ctr"/>
          <a:lstStyle/>
          <a:p>
            <a:pPr algn="ctr" indent="0" marL="0">
              <a:buNone/>
            </a:pPr>
            <a:r>
              <a:rPr lang="en-US" sz="3400" b="1" dirty="0">
                <a:solidFill>
                  <a:srgbClr val="0E1A17"/>
                </a:solidFill>
              </a:rPr>
              <a:t>3</a:t>
            </a:r>
            <a:endParaRPr lang="en-US" sz="3400" dirty="0"/>
          </a:p>
        </p:txBody>
      </p:sp>
      <p:sp>
        <p:nvSpPr>
          <p:cNvPr id="11" name="Text 9"/>
          <p:cNvSpPr txBox="1"/>
          <p:nvPr/>
        </p:nvSpPr>
        <p:spPr>
          <a:xfrm>
            <a:off x="6355080" y="3383280"/>
            <a:ext cx="2514600" cy="411480"/>
          </a:xfrm>
          <a:prstGeom prst="rect">
            <a:avLst/>
          </a:prstGeom>
          <a:noFill/>
          <a:ln/>
        </p:spPr>
        <p:txBody>
          <a:bodyPr wrap="square" lIns="0" tIns="0" rIns="0" bIns="0" rtlCol="0" anchor="t"/>
          <a:lstStyle/>
          <a:p>
            <a:pPr algn="ctr" indent="0" marL="0">
              <a:buNone/>
            </a:pPr>
            <a:r>
              <a:rPr lang="en-US" sz="2000" b="1" dirty="0">
                <a:solidFill>
                  <a:srgbClr val="FFFFFF"/>
                </a:solidFill>
              </a:rPr>
              <a:t>Mira tus rutas</a:t>
            </a:r>
            <a:endParaRPr lang="en-US" sz="2000" dirty="0"/>
          </a:p>
        </p:txBody>
      </p:sp>
      <p:sp>
        <p:nvSpPr>
          <p:cNvPr id="12" name="Text 10"/>
          <p:cNvSpPr txBox="1"/>
          <p:nvPr/>
        </p:nvSpPr>
        <p:spPr>
          <a:xfrm>
            <a:off x="6355080" y="3840480"/>
            <a:ext cx="2514600" cy="777240"/>
          </a:xfrm>
          <a:prstGeom prst="rect">
            <a:avLst/>
          </a:prstGeom>
          <a:noFill/>
          <a:ln/>
        </p:spPr>
        <p:txBody>
          <a:bodyPr wrap="square" lIns="0" tIns="0" rIns="0" bIns="0" rtlCol="0" anchor="t"/>
          <a:lstStyle/>
          <a:p>
            <a:pPr algn="ctr" indent="0" marL="0">
              <a:buNone/>
            </a:pPr>
            <a:r>
              <a:rPr lang="en-US" sz="1400" dirty="0">
                <a:solidFill>
                  <a:srgbClr val="C5D3CF"/>
                </a:solidFill>
              </a:rPr>
              <a:t>Trabajos parecidos con demanda en tu región.</a:t>
            </a:r>
            <a:endParaRPr lang="en-US" sz="1400" dirty="0"/>
          </a:p>
        </p:txBody>
      </p:sp>
      <p:sp>
        <p:nvSpPr>
          <p:cNvPr id="13" name="Hexágono 4"/>
          <p:cNvSpPr txBox="1"/>
          <p:nvPr/>
        </p:nvSpPr>
        <p:spPr>
          <a:xfrm>
            <a:off x="9692640" y="2011680"/>
            <a:ext cx="1417320" cy="1227399"/>
          </a:xfrm>
          <a:prstGeom prst="hexagon">
            <a:avLst/>
          </a:prstGeom>
          <a:solidFill>
            <a:srgbClr val="26A17B"/>
          </a:solidFill>
          <a:ln/>
        </p:spPr>
        <p:txBody>
          <a:bodyPr wrap="square" lIns="0" tIns="0" rIns="0" bIns="0" rtlCol="0" anchor="ctr"/>
          <a:lstStyle/>
          <a:p>
            <a:pPr algn="ctr" indent="0" marL="0">
              <a:buNone/>
            </a:pPr>
            <a:r>
              <a:rPr lang="en-US" sz="3400" b="1" dirty="0">
                <a:solidFill>
                  <a:srgbClr val="0E1A17"/>
                </a:solidFill>
              </a:rPr>
              <a:t>4</a:t>
            </a:r>
            <a:endParaRPr lang="en-US" sz="3400" dirty="0"/>
          </a:p>
        </p:txBody>
      </p:sp>
      <p:sp>
        <p:nvSpPr>
          <p:cNvPr id="14" name="Text 12"/>
          <p:cNvSpPr txBox="1"/>
          <p:nvPr/>
        </p:nvSpPr>
        <p:spPr>
          <a:xfrm>
            <a:off x="9189720" y="3383280"/>
            <a:ext cx="2514600" cy="411480"/>
          </a:xfrm>
          <a:prstGeom prst="rect">
            <a:avLst/>
          </a:prstGeom>
          <a:noFill/>
          <a:ln/>
        </p:spPr>
        <p:txBody>
          <a:bodyPr wrap="square" lIns="0" tIns="0" rIns="0" bIns="0" rtlCol="0" anchor="t"/>
          <a:lstStyle/>
          <a:p>
            <a:pPr algn="ctr" indent="0" marL="0">
              <a:buNone/>
            </a:pPr>
            <a:r>
              <a:rPr lang="en-US" sz="2000" b="1" dirty="0">
                <a:solidFill>
                  <a:srgbClr val="FFFFFF"/>
                </a:solidFill>
              </a:rPr>
              <a:t>Da el paso</a:t>
            </a:r>
            <a:endParaRPr lang="en-US" sz="2000" dirty="0"/>
          </a:p>
        </p:txBody>
      </p:sp>
      <p:sp>
        <p:nvSpPr>
          <p:cNvPr id="15" name="Text 13"/>
          <p:cNvSpPr txBox="1"/>
          <p:nvPr/>
        </p:nvSpPr>
        <p:spPr>
          <a:xfrm>
            <a:off x="9189720" y="3840480"/>
            <a:ext cx="2514600" cy="777240"/>
          </a:xfrm>
          <a:prstGeom prst="rect">
            <a:avLst/>
          </a:prstGeom>
          <a:noFill/>
          <a:ln/>
        </p:spPr>
        <p:txBody>
          <a:bodyPr wrap="square" lIns="0" tIns="0" rIns="0" bIns="0" rtlCol="0" anchor="t"/>
          <a:lstStyle/>
          <a:p>
            <a:pPr algn="ctr" indent="0" marL="0">
              <a:buNone/>
            </a:pPr>
            <a:r>
              <a:rPr lang="en-US" sz="1400" dirty="0">
                <a:solidFill>
                  <a:srgbClr val="C5D3CF"/>
                </a:solidFill>
              </a:rPr>
              <a:t>Una sola recomendación, según tu tiempo.</a:t>
            </a:r>
            <a:endParaRPr lang="en-US" sz="1400" dirty="0"/>
          </a:p>
        </p:txBody>
      </p:sp>
      <p:sp>
        <p:nvSpPr>
          <p:cNvPr id="16" name="Servicios del Estado"/>
          <p:cNvSpPr/>
          <p:nvPr/>
        </p:nvSpPr>
        <p:spPr>
          <a:xfrm>
            <a:off x="548640" y="4846320"/>
            <a:ext cx="7589520" cy="1143000"/>
          </a:xfrm>
          <a:prstGeom prst="roundRect">
            <a:avLst>
              <a:gd name="adj" fmla="val 12000"/>
            </a:avLst>
          </a:prstGeom>
          <a:solidFill>
            <a:srgbClr val="1C2C27"/>
          </a:solidFill>
          <a:ln w="12700">
            <a:solidFill>
              <a:srgbClr val="2C3D38"/>
            </a:solidFill>
            <a:prstDash val="solid"/>
          </a:ln>
        </p:spPr>
      </p:sp>
      <p:sp>
        <p:nvSpPr>
          <p:cNvPr id="17" name="Text 15"/>
          <p:cNvSpPr txBox="1"/>
          <p:nvPr/>
        </p:nvSpPr>
        <p:spPr>
          <a:xfrm>
            <a:off x="777240" y="4956048"/>
            <a:ext cx="7223760" cy="320040"/>
          </a:xfrm>
          <a:prstGeom prst="rect">
            <a:avLst/>
          </a:prstGeom>
          <a:noFill/>
          <a:ln/>
        </p:spPr>
        <p:txBody>
          <a:bodyPr wrap="square" lIns="0" tIns="0" rIns="0" bIns="0" rtlCol="0" anchor="t"/>
          <a:lstStyle/>
          <a:p>
            <a:pPr indent="0" marL="0">
              <a:buNone/>
            </a:pPr>
            <a:r>
              <a:rPr lang="en-US" sz="1300" b="1" dirty="0">
                <a:solidFill>
                  <a:srgbClr val="5FD3A9"/>
                </a:solidFill>
              </a:rPr>
              <a:t>Siempre termina en lo que el Estado ya ofrece</a:t>
            </a:r>
            <a:endParaRPr lang="en-US" sz="1300" dirty="0"/>
          </a:p>
        </p:txBody>
      </p:sp>
      <p:sp>
        <p:nvSpPr>
          <p:cNvPr id="18" name="Servicio Empleos Perú"/>
          <p:cNvSpPr txBox="1"/>
          <p:nvPr/>
        </p:nvSpPr>
        <p:spPr>
          <a:xfrm>
            <a:off x="777240" y="5376672"/>
            <a:ext cx="1691640" cy="411480"/>
          </a:xfrm>
          <a:prstGeom prst="roundRect">
            <a:avLst>
              <a:gd name="adj" fmla="val 48889"/>
            </a:avLst>
          </a:prstGeom>
          <a:solidFill>
            <a:srgbClr val="0E1A17"/>
          </a:solidFill>
          <a:ln w="12700">
            <a:solidFill>
              <a:srgbClr val="26A17B"/>
            </a:solidFill>
          </a:ln>
        </p:spPr>
        <p:txBody>
          <a:bodyPr wrap="square" lIns="0" tIns="0" rIns="0" bIns="0" rtlCol="0" anchor="ctr"/>
          <a:lstStyle/>
          <a:p>
            <a:pPr algn="ctr" indent="0" marL="0">
              <a:buNone/>
            </a:pPr>
            <a:r>
              <a:rPr lang="en-US" sz="1200" b="1" dirty="0">
                <a:solidFill>
                  <a:srgbClr val="FFFFFF"/>
                </a:solidFill>
              </a:rPr>
              <a:t>Empleos Perú</a:t>
            </a:r>
            <a:endParaRPr lang="en-US" sz="1200" dirty="0"/>
          </a:p>
        </p:txBody>
      </p:sp>
      <p:sp>
        <p:nvSpPr>
          <p:cNvPr id="19" name="Servicio Capacíta-T"/>
          <p:cNvSpPr txBox="1"/>
          <p:nvPr/>
        </p:nvSpPr>
        <p:spPr>
          <a:xfrm>
            <a:off x="2587752" y="5376672"/>
            <a:ext cx="1691640" cy="411480"/>
          </a:xfrm>
          <a:prstGeom prst="roundRect">
            <a:avLst>
              <a:gd name="adj" fmla="val 48889"/>
            </a:avLst>
          </a:prstGeom>
          <a:solidFill>
            <a:srgbClr val="0E1A17"/>
          </a:solidFill>
          <a:ln w="12700">
            <a:solidFill>
              <a:srgbClr val="26A17B"/>
            </a:solidFill>
          </a:ln>
        </p:spPr>
        <p:txBody>
          <a:bodyPr wrap="square" lIns="0" tIns="0" rIns="0" bIns="0" rtlCol="0" anchor="ctr"/>
          <a:lstStyle/>
          <a:p>
            <a:pPr algn="ctr" indent="0" marL="0">
              <a:buNone/>
            </a:pPr>
            <a:r>
              <a:rPr lang="en-US" sz="1200" b="1" dirty="0">
                <a:solidFill>
                  <a:srgbClr val="FFFFFF"/>
                </a:solidFill>
              </a:rPr>
              <a:t>Capacíta-T</a:t>
            </a:r>
            <a:endParaRPr lang="en-US" sz="1200" dirty="0"/>
          </a:p>
        </p:txBody>
      </p:sp>
      <p:sp>
        <p:nvSpPr>
          <p:cNvPr id="20" name="Servicio Centros de Empleo"/>
          <p:cNvSpPr txBox="1"/>
          <p:nvPr/>
        </p:nvSpPr>
        <p:spPr>
          <a:xfrm>
            <a:off x="4398264" y="5376672"/>
            <a:ext cx="1691640" cy="411480"/>
          </a:xfrm>
          <a:prstGeom prst="roundRect">
            <a:avLst>
              <a:gd name="adj" fmla="val 48889"/>
            </a:avLst>
          </a:prstGeom>
          <a:solidFill>
            <a:srgbClr val="0E1A17"/>
          </a:solidFill>
          <a:ln w="12700">
            <a:solidFill>
              <a:srgbClr val="26A17B"/>
            </a:solidFill>
          </a:ln>
        </p:spPr>
        <p:txBody>
          <a:bodyPr wrap="square" lIns="0" tIns="0" rIns="0" bIns="0" rtlCol="0" anchor="ctr"/>
          <a:lstStyle/>
          <a:p>
            <a:pPr algn="ctr" indent="0" marL="0">
              <a:buNone/>
            </a:pPr>
            <a:r>
              <a:rPr lang="en-US" sz="1200" b="1" dirty="0">
                <a:solidFill>
                  <a:srgbClr val="FFFFFF"/>
                </a:solidFill>
              </a:rPr>
              <a:t>Centros de Empleo</a:t>
            </a:r>
            <a:endParaRPr lang="en-US" sz="1200" dirty="0"/>
          </a:p>
        </p:txBody>
      </p:sp>
      <p:sp>
        <p:nvSpPr>
          <p:cNvPr id="21" name="Servicio Certificación MTPE"/>
          <p:cNvSpPr txBox="1"/>
          <p:nvPr/>
        </p:nvSpPr>
        <p:spPr>
          <a:xfrm>
            <a:off x="6208776" y="5376672"/>
            <a:ext cx="1691640" cy="411480"/>
          </a:xfrm>
          <a:prstGeom prst="roundRect">
            <a:avLst>
              <a:gd name="adj" fmla="val 48889"/>
            </a:avLst>
          </a:prstGeom>
          <a:solidFill>
            <a:srgbClr val="0E1A17"/>
          </a:solidFill>
          <a:ln w="12700">
            <a:solidFill>
              <a:srgbClr val="26A17B"/>
            </a:solidFill>
          </a:ln>
        </p:spPr>
        <p:txBody>
          <a:bodyPr wrap="square" lIns="0" tIns="0" rIns="0" bIns="0" rtlCol="0" anchor="ctr"/>
          <a:lstStyle/>
          <a:p>
            <a:pPr algn="ctr" indent="0" marL="0">
              <a:buNone/>
            </a:pPr>
            <a:r>
              <a:rPr lang="en-US" sz="1200" b="1" dirty="0">
                <a:solidFill>
                  <a:srgbClr val="FFFFFF"/>
                </a:solidFill>
              </a:rPr>
              <a:t>Certificación MTPE</a:t>
            </a:r>
            <a:endParaRPr lang="en-US" sz="1200" dirty="0"/>
          </a:p>
        </p:txBody>
      </p:sp>
      <p:sp>
        <p:nvSpPr>
          <p:cNvPr id="22" name="QVAC"/>
          <p:cNvSpPr/>
          <p:nvPr/>
        </p:nvSpPr>
        <p:spPr>
          <a:xfrm>
            <a:off x="8366760" y="4846320"/>
            <a:ext cx="3246120" cy="1143000"/>
          </a:xfrm>
          <a:prstGeom prst="roundRect">
            <a:avLst>
              <a:gd name="adj" fmla="val 12000"/>
            </a:avLst>
          </a:prstGeom>
          <a:solidFill>
            <a:srgbClr val="1A7A5C"/>
          </a:solidFill>
          <a:ln w="12700">
            <a:solidFill>
              <a:srgbClr val="2C3D38"/>
            </a:solidFill>
            <a:prstDash val="solid"/>
          </a:ln>
        </p:spPr>
      </p:sp>
      <p:sp>
        <p:nvSpPr>
          <p:cNvPr id="23" name="Text 21"/>
          <p:cNvSpPr txBox="1"/>
          <p:nvPr/>
        </p:nvSpPr>
        <p:spPr>
          <a:xfrm>
            <a:off x="8577072" y="4956048"/>
            <a:ext cx="2880360" cy="960120"/>
          </a:xfrm>
          <a:prstGeom prst="rect">
            <a:avLst/>
          </a:prstGeom>
          <a:noFill/>
          <a:ln/>
        </p:spPr>
        <p:txBody>
          <a:bodyPr wrap="square" lIns="0" tIns="0" rIns="0" bIns="0" rtlCol="0" anchor="t"/>
          <a:lstStyle/>
          <a:p>
            <a:pPr indent="0" marL="0">
              <a:buNone/>
            </a:pPr>
            <a:r>
              <a:rPr lang="en-US" sz="1300" b="1" dirty="0">
                <a:solidFill>
                  <a:srgbClr val="F5B82E"/>
                </a:solidFill>
              </a:rPr>
              <a:t>IA local con QVAC</a:t>
            </a:r>
            <a:endParaRPr lang="en-US" sz="1300" dirty="0"/>
          </a:p>
          <a:p>
            <a:pPr indent="0" marL="0">
              <a:buNone/>
            </a:pPr>
            <a:r>
              <a:rPr lang="en-US" sz="1300" dirty="0">
                <a:solidFill>
                  <a:srgbClr val="FFFFFF"/>
                </a:solidFill>
              </a:rPr>
              <a:t>Los datos no salen del ecosistema persona–MTPE.</a:t>
            </a:r>
            <a:endParaRPr lang="en-US" sz="13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04 · EXPERIENCE</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Rosa en Chambea, </a:t>
            </a:r>
            <a:pPr algn="l" indent="0" marL="0">
              <a:buNone/>
            </a:pPr>
            <a:r>
              <a:rPr lang="en-US" sz="3400" b="1" dirty="0">
                <a:solidFill>
                  <a:srgbClr val="5FD3A9"/>
                </a:solidFill>
              </a:rPr>
              <a:t>en menos de 5 minutos</a:t>
            </a:r>
            <a:endParaRPr lang="en-US" sz="3400" dirty="0"/>
          </a:p>
        </p:txBody>
      </p:sp>
      <p:sp>
        <p:nvSpPr>
          <p:cNvPr id="4" name="Marco Pantalla Cuenta su día"/>
          <p:cNvSpPr/>
          <p:nvPr/>
        </p:nvSpPr>
        <p:spPr>
          <a:xfrm>
            <a:off x="667512" y="1810512"/>
            <a:ext cx="1797013" cy="3739896"/>
          </a:xfrm>
          <a:prstGeom prst="roundRect">
            <a:avLst>
              <a:gd name="adj" fmla="val 11195"/>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5" name="Pantalla Cuenta su día" descr="Pantalla Cuenta su día">    </p:cNvPr>
          <p:cNvPicPr>
            <a:picLocks noChangeAspect="1"/>
          </p:cNvPicPr>
          <p:nvPr/>
        </p:nvPicPr>
        <p:blipFill>
          <a:blip r:embed="rId1"/>
          <a:stretch>
            <a:fillRect/>
          </a:stretch>
        </p:blipFill>
        <p:spPr>
          <a:xfrm>
            <a:off x="731520" y="1874520"/>
            <a:ext cx="1668997" cy="3611880"/>
          </a:xfrm>
          <a:prstGeom prst="rect">
            <a:avLst/>
          </a:prstGeom>
        </p:spPr>
      </p:pic>
      <p:sp>
        <p:nvSpPr>
          <p:cNvPr id="6" name="Hexágono 1"/>
          <p:cNvSpPr txBox="1"/>
          <p:nvPr/>
        </p:nvSpPr>
        <p:spPr>
          <a:xfrm>
            <a:off x="502920" y="1691640"/>
            <a:ext cx="457200" cy="395935"/>
          </a:xfrm>
          <a:prstGeom prst="hexagon">
            <a:avLst/>
          </a:prstGeom>
          <a:solidFill>
            <a:srgbClr val="F5B82E"/>
          </a:solidFill>
          <a:ln/>
        </p:spPr>
        <p:txBody>
          <a:bodyPr wrap="square" lIns="0" tIns="0" rIns="0" bIns="0" rtlCol="0" anchor="ctr"/>
          <a:lstStyle/>
          <a:p>
            <a:pPr algn="ctr" indent="0" marL="0">
              <a:buNone/>
            </a:pPr>
            <a:r>
              <a:rPr lang="en-US" sz="1400" b="1" dirty="0">
                <a:solidFill>
                  <a:srgbClr val="0E1A17"/>
                </a:solidFill>
              </a:rPr>
              <a:t>1</a:t>
            </a:r>
            <a:endParaRPr lang="en-US" sz="1400" dirty="0"/>
          </a:p>
        </p:txBody>
      </p:sp>
      <p:sp>
        <p:nvSpPr>
          <p:cNvPr id="7" name="Text 4"/>
          <p:cNvSpPr txBox="1"/>
          <p:nvPr/>
        </p:nvSpPr>
        <p:spPr>
          <a:xfrm>
            <a:off x="640080" y="5623560"/>
            <a:ext cx="1874520" cy="685800"/>
          </a:xfrm>
          <a:prstGeom prst="rect">
            <a:avLst/>
          </a:prstGeom>
          <a:noFill/>
          <a:ln/>
        </p:spPr>
        <p:txBody>
          <a:bodyPr wrap="square" lIns="0" tIns="0" rIns="0" bIns="0" rtlCol="0" anchor="t"/>
          <a:lstStyle/>
          <a:p>
            <a:pPr indent="0" marL="0">
              <a:buNone/>
            </a:pPr>
            <a:r>
              <a:rPr lang="en-US" sz="1300" b="1" dirty="0">
                <a:solidFill>
                  <a:srgbClr val="FFFFFF"/>
                </a:solidFill>
              </a:rPr>
              <a:t>Cuenta su día</a:t>
            </a:r>
            <a:endParaRPr lang="en-US" sz="1300" dirty="0"/>
          </a:p>
          <a:p>
            <a:pPr indent="0" marL="0">
              <a:buNone/>
            </a:pPr>
            <a:r>
              <a:rPr lang="en-US" sz="1300" dirty="0">
                <a:solidFill>
                  <a:srgbClr val="C5D3CF"/>
                </a:solidFill>
              </a:rPr>
              <a:t>hablando o escribiendo</a:t>
            </a:r>
            <a:endParaRPr lang="en-US" sz="1300" dirty="0"/>
          </a:p>
        </p:txBody>
      </p:sp>
      <p:sp>
        <p:nvSpPr>
          <p:cNvPr id="8" name="Marco Pantalla 16 habilidades"/>
          <p:cNvSpPr/>
          <p:nvPr/>
        </p:nvSpPr>
        <p:spPr>
          <a:xfrm>
            <a:off x="3182112" y="1810512"/>
            <a:ext cx="1797013" cy="3739896"/>
          </a:xfrm>
          <a:prstGeom prst="roundRect">
            <a:avLst>
              <a:gd name="adj" fmla="val 11195"/>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9" name="Pantalla 16 habilidades" descr="Pantalla 16 habilidades">    </p:cNvPr>
          <p:cNvPicPr>
            <a:picLocks noChangeAspect="1"/>
          </p:cNvPicPr>
          <p:nvPr/>
        </p:nvPicPr>
        <p:blipFill>
          <a:blip r:embed="rId2"/>
          <a:stretch>
            <a:fillRect/>
          </a:stretch>
        </p:blipFill>
        <p:spPr>
          <a:xfrm>
            <a:off x="3246120" y="1874520"/>
            <a:ext cx="1668997" cy="3611880"/>
          </a:xfrm>
          <a:prstGeom prst="rect">
            <a:avLst/>
          </a:prstGeom>
        </p:spPr>
      </p:pic>
      <p:sp>
        <p:nvSpPr>
          <p:cNvPr id="10" name="Hexágono 2"/>
          <p:cNvSpPr txBox="1"/>
          <p:nvPr/>
        </p:nvSpPr>
        <p:spPr>
          <a:xfrm>
            <a:off x="3017520" y="1691640"/>
            <a:ext cx="457200" cy="395935"/>
          </a:xfrm>
          <a:prstGeom prst="hexagon">
            <a:avLst/>
          </a:prstGeom>
          <a:solidFill>
            <a:srgbClr val="F5B82E"/>
          </a:solidFill>
          <a:ln/>
        </p:spPr>
        <p:txBody>
          <a:bodyPr wrap="square" lIns="0" tIns="0" rIns="0" bIns="0" rtlCol="0" anchor="ctr"/>
          <a:lstStyle/>
          <a:p>
            <a:pPr algn="ctr" indent="0" marL="0">
              <a:buNone/>
            </a:pPr>
            <a:r>
              <a:rPr lang="en-US" sz="1400" b="1" dirty="0">
                <a:solidFill>
                  <a:srgbClr val="0E1A17"/>
                </a:solidFill>
              </a:rPr>
              <a:t>2</a:t>
            </a:r>
            <a:endParaRPr lang="en-US" sz="1400" dirty="0"/>
          </a:p>
        </p:txBody>
      </p:sp>
      <p:sp>
        <p:nvSpPr>
          <p:cNvPr id="11" name="Text 7"/>
          <p:cNvSpPr txBox="1"/>
          <p:nvPr/>
        </p:nvSpPr>
        <p:spPr>
          <a:xfrm>
            <a:off x="3154680" y="5623560"/>
            <a:ext cx="1874520" cy="685800"/>
          </a:xfrm>
          <a:prstGeom prst="rect">
            <a:avLst/>
          </a:prstGeom>
          <a:noFill/>
          <a:ln/>
        </p:spPr>
        <p:txBody>
          <a:bodyPr wrap="square" lIns="0" tIns="0" rIns="0" bIns="0" rtlCol="0" anchor="t"/>
          <a:lstStyle/>
          <a:p>
            <a:pPr indent="0" marL="0">
              <a:buNone/>
            </a:pPr>
            <a:r>
              <a:rPr lang="en-US" sz="1300" b="1" dirty="0">
                <a:solidFill>
                  <a:srgbClr val="FFFFFF"/>
                </a:solidFill>
              </a:rPr>
              <a:t>16 habilidades</a:t>
            </a:r>
            <a:endParaRPr lang="en-US" sz="1300" dirty="0"/>
          </a:p>
          <a:p>
            <a:pPr indent="0" marL="0">
              <a:buNone/>
            </a:pPr>
            <a:r>
              <a:rPr lang="en-US" sz="1300" dirty="0">
                <a:solidFill>
                  <a:srgbClr val="C5D3CF"/>
                </a:solidFill>
              </a:rPr>
              <a:t>cada una con su prueba</a:t>
            </a:r>
            <a:endParaRPr lang="en-US" sz="1300" dirty="0"/>
          </a:p>
        </p:txBody>
      </p:sp>
      <p:sp>
        <p:nvSpPr>
          <p:cNvPr id="12" name="Marco Pantalla Vendedora de tienda"/>
          <p:cNvSpPr/>
          <p:nvPr/>
        </p:nvSpPr>
        <p:spPr>
          <a:xfrm>
            <a:off x="5696712" y="1810512"/>
            <a:ext cx="1797013" cy="3739896"/>
          </a:xfrm>
          <a:prstGeom prst="roundRect">
            <a:avLst>
              <a:gd name="adj" fmla="val 11195"/>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13" name="Pantalla Vendedora de tienda" descr="Pantalla Vendedora de tienda">    </p:cNvPr>
          <p:cNvPicPr>
            <a:picLocks noChangeAspect="1"/>
          </p:cNvPicPr>
          <p:nvPr/>
        </p:nvPicPr>
        <p:blipFill>
          <a:blip r:embed="rId3"/>
          <a:stretch>
            <a:fillRect/>
          </a:stretch>
        </p:blipFill>
        <p:spPr>
          <a:xfrm>
            <a:off x="5760720" y="1874520"/>
            <a:ext cx="1668997" cy="3611880"/>
          </a:xfrm>
          <a:prstGeom prst="rect">
            <a:avLst/>
          </a:prstGeom>
        </p:spPr>
      </p:pic>
      <p:sp>
        <p:nvSpPr>
          <p:cNvPr id="14" name="Hexágono 3"/>
          <p:cNvSpPr txBox="1"/>
          <p:nvPr/>
        </p:nvSpPr>
        <p:spPr>
          <a:xfrm>
            <a:off x="5532120" y="1691640"/>
            <a:ext cx="457200" cy="395935"/>
          </a:xfrm>
          <a:prstGeom prst="hexagon">
            <a:avLst/>
          </a:prstGeom>
          <a:solidFill>
            <a:srgbClr val="F5B82E"/>
          </a:solidFill>
          <a:ln/>
        </p:spPr>
        <p:txBody>
          <a:bodyPr wrap="square" lIns="0" tIns="0" rIns="0" bIns="0" rtlCol="0" anchor="ctr"/>
          <a:lstStyle/>
          <a:p>
            <a:pPr algn="ctr" indent="0" marL="0">
              <a:buNone/>
            </a:pPr>
            <a:r>
              <a:rPr lang="en-US" sz="1400" b="1" dirty="0">
                <a:solidFill>
                  <a:srgbClr val="0E1A17"/>
                </a:solidFill>
              </a:rPr>
              <a:t>3</a:t>
            </a:r>
            <a:endParaRPr lang="en-US" sz="1400" dirty="0"/>
          </a:p>
        </p:txBody>
      </p:sp>
      <p:sp>
        <p:nvSpPr>
          <p:cNvPr id="15" name="Text 10"/>
          <p:cNvSpPr txBox="1"/>
          <p:nvPr/>
        </p:nvSpPr>
        <p:spPr>
          <a:xfrm>
            <a:off x="5669280" y="5623560"/>
            <a:ext cx="1874520" cy="685800"/>
          </a:xfrm>
          <a:prstGeom prst="rect">
            <a:avLst/>
          </a:prstGeom>
          <a:noFill/>
          <a:ln/>
        </p:spPr>
        <p:txBody>
          <a:bodyPr wrap="square" lIns="0" tIns="0" rIns="0" bIns="0" rtlCol="0" anchor="t"/>
          <a:lstStyle/>
          <a:p>
            <a:pPr indent="0" marL="0">
              <a:buNone/>
            </a:pPr>
            <a:r>
              <a:rPr lang="en-US" sz="1300" b="1" dirty="0">
                <a:solidFill>
                  <a:srgbClr val="FFFFFF"/>
                </a:solidFill>
              </a:rPr>
              <a:t>Vendedora de tienda</a:t>
            </a:r>
            <a:endParaRPr lang="en-US" sz="1300" dirty="0"/>
          </a:p>
          <a:p>
            <a:pPr indent="0" marL="0">
              <a:buNone/>
            </a:pPr>
            <a:r>
              <a:rPr lang="en-US" sz="1300" dirty="0">
                <a:solidFill>
                  <a:srgbClr val="C5D3CF"/>
                </a:solidFill>
              </a:rPr>
              <a:t>ya tiene 6 de 7</a:t>
            </a:r>
            <a:endParaRPr lang="en-US" sz="1300" dirty="0"/>
          </a:p>
        </p:txBody>
      </p:sp>
      <p:sp>
        <p:nvSpPr>
          <p:cNvPr id="16" name="Marco Pantalla Curso gratis de Ventas"/>
          <p:cNvSpPr/>
          <p:nvPr/>
        </p:nvSpPr>
        <p:spPr>
          <a:xfrm>
            <a:off x="8211312" y="1810512"/>
            <a:ext cx="1797013" cy="3739896"/>
          </a:xfrm>
          <a:prstGeom prst="roundRect">
            <a:avLst>
              <a:gd name="adj" fmla="val 11195"/>
            </a:avLst>
          </a:prstGeom>
          <a:solidFill>
            <a:srgbClr val="2C3D38"/>
          </a:solidFill>
          <a:ln w="12700">
            <a:solidFill>
              <a:srgbClr val="3E524C"/>
            </a:solidFill>
            <a:prstDash val="solid"/>
          </a:ln>
          <a:effectLst>
            <a:outerShdw sx="100000" sy="100000" kx="0" ky="0" algn="bl" rotWithShape="0" blurRad="127000" dist="50800" dir="5400000">
              <a:srgbClr val="000000">
                <a:alpha val="35000"/>
              </a:srgbClr>
            </a:outerShdw>
          </a:effectLst>
        </p:spPr>
      </p:sp>
      <p:pic>
        <p:nvPicPr>
          <p:cNvPr id="17" name="Pantalla Curso gratis de Ventas" descr="Pantalla Curso gratis de Ventas">    </p:cNvPr>
          <p:cNvPicPr>
            <a:picLocks noChangeAspect="1"/>
          </p:cNvPicPr>
          <p:nvPr/>
        </p:nvPicPr>
        <p:blipFill>
          <a:blip r:embed="rId4"/>
          <a:stretch>
            <a:fillRect/>
          </a:stretch>
        </p:blipFill>
        <p:spPr>
          <a:xfrm>
            <a:off x="8275320" y="1874520"/>
            <a:ext cx="1668997" cy="3611880"/>
          </a:xfrm>
          <a:prstGeom prst="rect">
            <a:avLst/>
          </a:prstGeom>
        </p:spPr>
      </p:pic>
      <p:sp>
        <p:nvSpPr>
          <p:cNvPr id="18" name="Hexágono 4"/>
          <p:cNvSpPr txBox="1"/>
          <p:nvPr/>
        </p:nvSpPr>
        <p:spPr>
          <a:xfrm>
            <a:off x="8046720" y="1691640"/>
            <a:ext cx="457200" cy="395935"/>
          </a:xfrm>
          <a:prstGeom prst="hexagon">
            <a:avLst/>
          </a:prstGeom>
          <a:solidFill>
            <a:srgbClr val="F5B82E"/>
          </a:solidFill>
          <a:ln/>
        </p:spPr>
        <p:txBody>
          <a:bodyPr wrap="square" lIns="0" tIns="0" rIns="0" bIns="0" rtlCol="0" anchor="ctr"/>
          <a:lstStyle/>
          <a:p>
            <a:pPr algn="ctr" indent="0" marL="0">
              <a:buNone/>
            </a:pPr>
            <a:r>
              <a:rPr lang="en-US" sz="1400" b="1" dirty="0">
                <a:solidFill>
                  <a:srgbClr val="0E1A17"/>
                </a:solidFill>
              </a:rPr>
              <a:t>4</a:t>
            </a:r>
            <a:endParaRPr lang="en-US" sz="1400" dirty="0"/>
          </a:p>
        </p:txBody>
      </p:sp>
      <p:sp>
        <p:nvSpPr>
          <p:cNvPr id="19" name="Text 13"/>
          <p:cNvSpPr txBox="1"/>
          <p:nvPr/>
        </p:nvSpPr>
        <p:spPr>
          <a:xfrm>
            <a:off x="8183880" y="5623560"/>
            <a:ext cx="1874520" cy="685800"/>
          </a:xfrm>
          <a:prstGeom prst="rect">
            <a:avLst/>
          </a:prstGeom>
          <a:noFill/>
          <a:ln/>
        </p:spPr>
        <p:txBody>
          <a:bodyPr wrap="square" lIns="0" tIns="0" rIns="0" bIns="0" rtlCol="0" anchor="t"/>
          <a:lstStyle/>
          <a:p>
            <a:pPr indent="0" marL="0">
              <a:buNone/>
            </a:pPr>
            <a:r>
              <a:rPr lang="en-US" sz="1300" b="1" dirty="0">
                <a:solidFill>
                  <a:srgbClr val="FFFFFF"/>
                </a:solidFill>
              </a:rPr>
              <a:t>Curso gratis de Ventas</a:t>
            </a:r>
            <a:endParaRPr lang="en-US" sz="1300" dirty="0"/>
          </a:p>
          <a:p>
            <a:pPr indent="0" marL="0">
              <a:buNone/>
            </a:pPr>
            <a:r>
              <a:rPr lang="en-US" sz="1300" dirty="0">
                <a:solidFill>
                  <a:srgbClr val="C5D3CF"/>
                </a:solidFill>
              </a:rPr>
              <a:t>en Capacíta-T, desde el celular</a:t>
            </a:r>
            <a:endParaRPr lang="en-US" sz="1300" dirty="0"/>
          </a:p>
        </p:txBody>
      </p:sp>
      <p:sp>
        <p:nvSpPr>
          <p:cNvPr id="20" name="QR"/>
          <p:cNvSpPr/>
          <p:nvPr/>
        </p:nvSpPr>
        <p:spPr>
          <a:xfrm>
            <a:off x="10469880" y="1874520"/>
            <a:ext cx="1188720" cy="1691640"/>
          </a:xfrm>
          <a:prstGeom prst="roundRect">
            <a:avLst>
              <a:gd name="adj" fmla="val 11538"/>
            </a:avLst>
          </a:prstGeom>
          <a:solidFill>
            <a:srgbClr val="1C2C27"/>
          </a:solidFill>
          <a:ln w="12700">
            <a:solidFill>
              <a:srgbClr val="2C3D38"/>
            </a:solidFill>
            <a:prstDash val="solid"/>
          </a:ln>
        </p:spPr>
      </p:sp>
      <p:pic>
        <p:nvPicPr>
          <p:cNvPr id="21" name="QR" descr="QR del prototipo">    </p:cNvPr>
          <p:cNvPicPr>
            <a:picLocks noChangeAspect="1"/>
          </p:cNvPicPr>
          <p:nvPr/>
        </p:nvPicPr>
        <p:blipFill>
          <a:blip r:embed="rId5"/>
          <a:stretch>
            <a:fillRect/>
          </a:stretch>
        </p:blipFill>
        <p:spPr>
          <a:xfrm>
            <a:off x="10561320" y="1965960"/>
            <a:ext cx="1005840" cy="1005840"/>
          </a:xfrm>
          <a:prstGeom prst="rect">
            <a:avLst/>
          </a:prstGeom>
        </p:spPr>
      </p:pic>
      <p:sp>
        <p:nvSpPr>
          <p:cNvPr id="22" name="Text 15"/>
          <p:cNvSpPr txBox="1"/>
          <p:nvPr/>
        </p:nvSpPr>
        <p:spPr>
          <a:xfrm>
            <a:off x="10469880" y="3063240"/>
            <a:ext cx="1188720" cy="365760"/>
          </a:xfrm>
          <a:prstGeom prst="rect">
            <a:avLst/>
          </a:prstGeom>
          <a:noFill/>
          <a:ln/>
        </p:spPr>
        <p:txBody>
          <a:bodyPr wrap="square" lIns="0" tIns="0" rIns="0" bIns="0" rtlCol="0" anchor="t"/>
          <a:lstStyle/>
          <a:p>
            <a:pPr algn="ctr" indent="0" marL="0">
              <a:buNone/>
            </a:pPr>
            <a:r>
              <a:rPr lang="en-US" sz="1300" b="1" dirty="0">
                <a:solidFill>
                  <a:srgbClr val="F5B82E"/>
                </a:solidFill>
              </a:rPr>
              <a:t>Pruébalo</a:t>
            </a:r>
            <a:endParaRPr lang="en-US" sz="1300" dirty="0"/>
          </a:p>
        </p:txBody>
      </p:sp>
      <p:sp>
        <p:nvSpPr>
          <p:cNvPr id="23" name="Text 16"/>
          <p:cNvSpPr txBox="1"/>
          <p:nvPr/>
        </p:nvSpPr>
        <p:spPr>
          <a:xfrm>
            <a:off x="10287000" y="3703320"/>
            <a:ext cx="1554480" cy="1188720"/>
          </a:xfrm>
          <a:prstGeom prst="rect">
            <a:avLst/>
          </a:prstGeom>
          <a:noFill/>
          <a:ln/>
        </p:spPr>
        <p:txBody>
          <a:bodyPr wrap="square" lIns="0" tIns="0" rIns="0" bIns="0" rtlCol="0" anchor="t"/>
          <a:lstStyle/>
          <a:p>
            <a:pPr algn="ctr" indent="0" marL="0">
              <a:buNone/>
            </a:pPr>
            <a:r>
              <a:rPr lang="en-US" sz="1100" dirty="0">
                <a:solidFill>
                  <a:srgbClr val="C5D3CF"/>
                </a:solidFill>
              </a:rPr>
              <a:t>Prototipo funcional: andyferaldo.github.io/chambea</a:t>
            </a:r>
            <a:endParaRPr lang="en-US" sz="11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04 · EXPERIENCE</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Se lleva su panal, </a:t>
            </a:r>
            <a:pPr algn="l" indent="0" marL="0">
              <a:buNone/>
            </a:pPr>
            <a:r>
              <a:rPr lang="en-US" sz="3400" b="1" dirty="0">
                <a:solidFill>
                  <a:srgbClr val="5FD3A9"/>
                </a:solidFill>
              </a:rPr>
              <a:t>y las empresas la encuentran</a:t>
            </a:r>
            <a:endParaRPr lang="en-US" sz="3400" dirty="0"/>
          </a:p>
        </p:txBody>
      </p:sp>
      <p:sp>
        <p:nvSpPr>
          <p:cNvPr id="4" name="Ventana Mi panal"/>
          <p:cNvSpPr/>
          <p:nvPr/>
        </p:nvSpPr>
        <p:spPr>
          <a:xfrm>
            <a:off x="548640" y="1965960"/>
            <a:ext cx="5486400" cy="3657600"/>
          </a:xfrm>
          <a:prstGeom prst="roundRect">
            <a:avLst>
              <a:gd name="adj" fmla="val 2500"/>
            </a:avLst>
          </a:prstGeom>
          <a:solidFill>
            <a:srgbClr val="E7ECEA"/>
          </a:solidFill>
          <a:ln w="12700">
            <a:solidFill>
              <a:srgbClr val="2C3D38"/>
            </a:solidFill>
            <a:prstDash val="solid"/>
          </a:ln>
        </p:spPr>
      </p:sp>
      <p:pic>
        <p:nvPicPr>
          <p:cNvPr id="5" name="Mi panal" descr="Mi panal en computadora">    </p:cNvPr>
          <p:cNvPicPr>
            <a:picLocks noChangeAspect="1"/>
          </p:cNvPicPr>
          <p:nvPr/>
        </p:nvPicPr>
        <p:blipFill>
          <a:blip r:embed="rId1"/>
          <a:stretch>
            <a:fillRect/>
          </a:stretch>
        </p:blipFill>
        <p:spPr>
          <a:xfrm>
            <a:off x="594360" y="2194560"/>
            <a:ext cx="5394960" cy="3374136"/>
          </a:xfrm>
          <a:prstGeom prst="rect">
            <a:avLst/>
          </a:prstGeom>
        </p:spPr>
      </p:pic>
      <p:sp>
        <p:nvSpPr>
          <p:cNvPr id="6" name="Ventana Banco"/>
          <p:cNvSpPr/>
          <p:nvPr/>
        </p:nvSpPr>
        <p:spPr>
          <a:xfrm>
            <a:off x="6172200" y="1965960"/>
            <a:ext cx="5486400" cy="3657600"/>
          </a:xfrm>
          <a:prstGeom prst="roundRect">
            <a:avLst>
              <a:gd name="adj" fmla="val 2500"/>
            </a:avLst>
          </a:prstGeom>
          <a:solidFill>
            <a:srgbClr val="E7ECEA"/>
          </a:solidFill>
          <a:ln w="12700">
            <a:solidFill>
              <a:srgbClr val="2C3D38"/>
            </a:solidFill>
            <a:prstDash val="solid"/>
          </a:ln>
        </p:spPr>
      </p:sp>
      <p:pic>
        <p:nvPicPr>
          <p:cNvPr id="7" name="Banco de talento" descr="Banco de talento en computadora">    </p:cNvPr>
          <p:cNvPicPr>
            <a:picLocks noChangeAspect="1"/>
          </p:cNvPicPr>
          <p:nvPr/>
        </p:nvPicPr>
        <p:blipFill>
          <a:blip r:embed="rId2"/>
          <a:stretch>
            <a:fillRect/>
          </a:stretch>
        </p:blipFill>
        <p:spPr>
          <a:xfrm>
            <a:off x="6217920" y="2194560"/>
            <a:ext cx="5394960" cy="3374136"/>
          </a:xfrm>
          <a:prstGeom prst="rect">
            <a:avLst/>
          </a:prstGeom>
        </p:spPr>
      </p:pic>
      <p:sp>
        <p:nvSpPr>
          <p:cNvPr id="8" name="Text 4"/>
          <p:cNvSpPr txBox="1"/>
          <p:nvPr/>
        </p:nvSpPr>
        <p:spPr>
          <a:xfrm>
            <a:off x="548640" y="5760720"/>
            <a:ext cx="5486400" cy="685800"/>
          </a:xfrm>
          <a:prstGeom prst="rect">
            <a:avLst/>
          </a:prstGeom>
          <a:noFill/>
          <a:ln/>
        </p:spPr>
        <p:txBody>
          <a:bodyPr wrap="square" lIns="0" tIns="0" rIns="0" bIns="0" rtlCol="0" anchor="t"/>
          <a:lstStyle/>
          <a:p>
            <a:pPr indent="0" marL="0">
              <a:buNone/>
            </a:pPr>
            <a:r>
              <a:rPr lang="en-US" sz="1300" b="1" dirty="0">
                <a:solidFill>
                  <a:srgbClr val="FFFFFF"/>
                </a:solidFill>
              </a:rPr>
              <a:t>Mi panal: </a:t>
            </a:r>
            <a:pPr indent="0" marL="0">
              <a:buNone/>
            </a:pPr>
            <a:r>
              <a:rPr lang="en-US" sz="1300" dirty="0">
                <a:solidFill>
                  <a:srgbClr val="C5D3CF"/>
                </a:solidFill>
              </a:rPr>
              <a:t>tarjeta descargable con sus pruebas, plan de acción, texto para presentarse sin CV y QR para su asesor.</a:t>
            </a:r>
            <a:endParaRPr lang="en-US" sz="1300" dirty="0"/>
          </a:p>
        </p:txBody>
      </p:sp>
      <p:sp>
        <p:nvSpPr>
          <p:cNvPr id="9" name="Text 5"/>
          <p:cNvSpPr txBox="1"/>
          <p:nvPr/>
        </p:nvSpPr>
        <p:spPr>
          <a:xfrm>
            <a:off x="6172200" y="5760720"/>
            <a:ext cx="5486400" cy="685800"/>
          </a:xfrm>
          <a:prstGeom prst="rect">
            <a:avLst/>
          </a:prstGeom>
          <a:noFill/>
          <a:ln/>
        </p:spPr>
        <p:txBody>
          <a:bodyPr wrap="square" lIns="0" tIns="0" rIns="0" bIns="0" rtlCol="0" anchor="t"/>
          <a:lstStyle/>
          <a:p>
            <a:pPr indent="0" marL="0">
              <a:buNone/>
            </a:pPr>
            <a:r>
              <a:rPr lang="en-US" sz="1300" b="1" dirty="0">
                <a:solidFill>
                  <a:srgbClr val="FFFFFF"/>
                </a:solidFill>
              </a:rPr>
              <a:t>Banco de talento: </a:t>
            </a:r>
            <a:pPr indent="0" marL="0">
              <a:buNone/>
            </a:pPr>
            <a:r>
              <a:rPr lang="en-US" sz="1300" dirty="0">
                <a:solidFill>
                  <a:srgbClr val="C5D3CF"/>
                </a:solidFill>
              </a:rPr>
              <a:t>empresas buscan por lo que sabe hacer. Nombre como en Yape y contacto a través del Centro de Empleo.</a:t>
            </a:r>
            <a:endParaRPr lang="en-US" sz="13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05 · BUSINESS CASE</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Tiene sentido para el </a:t>
            </a:r>
            <a:pPr algn="l" indent="0" marL="0">
              <a:buNone/>
            </a:pPr>
            <a:r>
              <a:rPr lang="en-US" sz="3400" b="1" dirty="0">
                <a:solidFill>
                  <a:srgbClr val="5FD3A9"/>
                </a:solidFill>
              </a:rPr>
              <a:t>MTPE</a:t>
            </a:r>
            <a:pPr algn="l" indent="0" marL="0">
              <a:buNone/>
            </a:pPr>
            <a:r>
              <a:rPr lang="en-US" sz="3400" b="1" dirty="0">
                <a:solidFill>
                  <a:srgbClr val="FFFFFF"/>
                </a:solidFill>
              </a:rPr>
              <a:t> y para </a:t>
            </a:r>
            <a:pPr algn="l" indent="0" marL="0">
              <a:buNone/>
            </a:pPr>
            <a:r>
              <a:rPr lang="en-US" sz="3400" b="1" dirty="0">
                <a:solidFill>
                  <a:srgbClr val="5FD3A9"/>
                </a:solidFill>
              </a:rPr>
              <a:t>Tether</a:t>
            </a:r>
            <a:endParaRPr lang="en-US" sz="3400" dirty="0"/>
          </a:p>
        </p:txBody>
      </p:sp>
      <p:sp>
        <p:nvSpPr>
          <p:cNvPr id="4" name="Para el MTPE"/>
          <p:cNvSpPr/>
          <p:nvPr/>
        </p:nvSpPr>
        <p:spPr>
          <a:xfrm>
            <a:off x="548640" y="2011680"/>
            <a:ext cx="5440680" cy="3794760"/>
          </a:xfrm>
          <a:prstGeom prst="roundRect">
            <a:avLst>
              <a:gd name="adj" fmla="val 3614"/>
            </a:avLst>
          </a:prstGeom>
          <a:solidFill>
            <a:srgbClr val="1C2C27"/>
          </a:solidFill>
          <a:ln w="12700">
            <a:solidFill>
              <a:srgbClr val="2C3D38"/>
            </a:solidFill>
            <a:prstDash val="solid"/>
          </a:ln>
        </p:spPr>
      </p:sp>
      <p:sp>
        <p:nvSpPr>
          <p:cNvPr id="5" name="Hexágono MTPE"/>
          <p:cNvSpPr txBox="1"/>
          <p:nvPr/>
        </p:nvSpPr>
        <p:spPr>
          <a:xfrm>
            <a:off x="822960" y="2240280"/>
            <a:ext cx="914400" cy="791870"/>
          </a:xfrm>
          <a:prstGeom prst="hexagon">
            <a:avLst/>
          </a:prstGeom>
          <a:solidFill>
            <a:srgbClr val="F5B82E"/>
          </a:solidFill>
          <a:ln/>
        </p:spPr>
        <p:txBody>
          <a:bodyPr wrap="square" lIns="0" tIns="0" rIns="0" bIns="0" rtlCol="0" anchor="ctr"/>
          <a:lstStyle/>
          <a:p>
            <a:pPr algn="ctr" indent="0" marL="0">
              <a:buNone/>
            </a:pPr>
            <a:r>
              <a:rPr lang="en-US" sz="1200" b="1" dirty="0">
                <a:solidFill>
                  <a:srgbClr val="0E1A17"/>
                </a:solidFill>
              </a:rPr>
              <a:t>MTPE</a:t>
            </a:r>
            <a:endParaRPr lang="en-US" sz="1200" dirty="0"/>
          </a:p>
        </p:txBody>
      </p:sp>
      <p:sp>
        <p:nvSpPr>
          <p:cNvPr id="6" name="Text 4"/>
          <p:cNvSpPr txBox="1"/>
          <p:nvPr/>
        </p:nvSpPr>
        <p:spPr>
          <a:xfrm>
            <a:off x="1920240" y="2377440"/>
            <a:ext cx="3840480" cy="457200"/>
          </a:xfrm>
          <a:prstGeom prst="rect">
            <a:avLst/>
          </a:prstGeom>
          <a:noFill/>
          <a:ln/>
        </p:spPr>
        <p:txBody>
          <a:bodyPr wrap="square" lIns="0" tIns="0" rIns="0" bIns="0" rtlCol="0" anchor="t"/>
          <a:lstStyle/>
          <a:p>
            <a:pPr indent="0" marL="0">
              <a:buNone/>
            </a:pPr>
            <a:r>
              <a:rPr lang="en-US" sz="2200" b="1" dirty="0">
                <a:solidFill>
                  <a:srgbClr val="FFFFFF"/>
                </a:solidFill>
              </a:rPr>
              <a:t>Para el MTPE</a:t>
            </a:r>
            <a:endParaRPr lang="en-US" sz="2200" dirty="0"/>
          </a:p>
        </p:txBody>
      </p:sp>
      <p:sp>
        <p:nvSpPr>
          <p:cNvPr id="7" name="Lista Para el MTPE"/>
          <p:cNvSpPr txBox="1"/>
          <p:nvPr/>
        </p:nvSpPr>
        <p:spPr>
          <a:xfrm>
            <a:off x="822960" y="3200400"/>
            <a:ext cx="4937760" cy="2468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C5D3CF"/>
                </a:solidFill>
              </a:rPr>
              <a:t>No crea servicios nuevos: lleva más personas a Capacíta-T, Empleos Perú y los Centros de Empleo.</a:t>
            </a:r>
            <a:endParaRPr lang="en-US" sz="1500" dirty="0"/>
          </a:p>
          <a:p>
            <a:pPr marL="228600" indent="-228600">
              <a:spcAft>
                <a:spcPts val="800"/>
              </a:spcAft>
              <a:buSzPct val="100000"/>
              <a:buChar char="•"/>
            </a:pPr>
            <a:r>
              <a:rPr lang="en-US" sz="1500" dirty="0">
                <a:solidFill>
                  <a:srgbClr val="C5D3CF"/>
                </a:solidFill>
              </a:rPr>
              <a:t>El asesor recibe un perfil ya armado y atiende más rápido.</a:t>
            </a:r>
            <a:endParaRPr lang="en-US" sz="1500" dirty="0"/>
          </a:p>
          <a:p>
            <a:pPr marL="228600" indent="-228600">
              <a:spcAft>
                <a:spcPts val="800"/>
              </a:spcAft>
              <a:buSzPct val="100000"/>
              <a:buChar char="•"/>
            </a:pPr>
            <a:r>
              <a:rPr lang="en-US" sz="1500" dirty="0">
                <a:solidFill>
                  <a:srgbClr val="C5D3CF"/>
                </a:solidFill>
              </a:rPr>
              <a:t>Explicable: pesos públicos y una matriz de transiciones basada en competencias compartidas.</a:t>
            </a:r>
            <a:endParaRPr lang="en-US" sz="1500" dirty="0"/>
          </a:p>
          <a:p>
            <a:pPr marL="228600" indent="-228600">
              <a:spcAft>
                <a:spcPts val="800"/>
              </a:spcAft>
              <a:buSzPct val="100000"/>
              <a:buChar char="•"/>
            </a:pPr>
            <a:r>
              <a:rPr lang="en-US" sz="1500" dirty="0">
                <a:solidFill>
                  <a:srgbClr val="C5D3CF"/>
                </a:solidFill>
              </a:rPr>
              <a:t>Crece con datos oficiales (estándares de competencia, EDO 2026) sin reprogramar.</a:t>
            </a:r>
            <a:endParaRPr lang="en-US" sz="1500" dirty="0"/>
          </a:p>
        </p:txBody>
      </p:sp>
      <p:sp>
        <p:nvSpPr>
          <p:cNvPr id="8" name="Para Tether"/>
          <p:cNvSpPr/>
          <p:nvPr/>
        </p:nvSpPr>
        <p:spPr>
          <a:xfrm>
            <a:off x="6172200" y="2011680"/>
            <a:ext cx="5440680" cy="3794760"/>
          </a:xfrm>
          <a:prstGeom prst="roundRect">
            <a:avLst>
              <a:gd name="adj" fmla="val 3614"/>
            </a:avLst>
          </a:prstGeom>
          <a:solidFill>
            <a:srgbClr val="1C2C27"/>
          </a:solidFill>
          <a:ln w="12700">
            <a:solidFill>
              <a:srgbClr val="2C3D38"/>
            </a:solidFill>
            <a:prstDash val="solid"/>
          </a:ln>
        </p:spPr>
      </p:sp>
      <p:sp>
        <p:nvSpPr>
          <p:cNvPr id="9" name="Hexágono QVAC"/>
          <p:cNvSpPr txBox="1"/>
          <p:nvPr/>
        </p:nvSpPr>
        <p:spPr>
          <a:xfrm>
            <a:off x="6446520" y="2240280"/>
            <a:ext cx="914400" cy="791870"/>
          </a:xfrm>
          <a:prstGeom prst="hexagon">
            <a:avLst/>
          </a:prstGeom>
          <a:solidFill>
            <a:srgbClr val="26A17B"/>
          </a:solidFill>
          <a:ln/>
        </p:spPr>
        <p:txBody>
          <a:bodyPr wrap="square" lIns="0" tIns="0" rIns="0" bIns="0" rtlCol="0" anchor="ctr"/>
          <a:lstStyle/>
          <a:p>
            <a:pPr algn="ctr" indent="0" marL="0">
              <a:buNone/>
            </a:pPr>
            <a:r>
              <a:rPr lang="en-US" sz="1200" b="1" dirty="0">
                <a:solidFill>
                  <a:srgbClr val="0E1A17"/>
                </a:solidFill>
              </a:rPr>
              <a:t>QVAC</a:t>
            </a:r>
            <a:endParaRPr lang="en-US" sz="1200" dirty="0"/>
          </a:p>
        </p:txBody>
      </p:sp>
      <p:sp>
        <p:nvSpPr>
          <p:cNvPr id="10" name="Text 8"/>
          <p:cNvSpPr txBox="1"/>
          <p:nvPr/>
        </p:nvSpPr>
        <p:spPr>
          <a:xfrm>
            <a:off x="7543800" y="2377440"/>
            <a:ext cx="3840480" cy="457200"/>
          </a:xfrm>
          <a:prstGeom prst="rect">
            <a:avLst/>
          </a:prstGeom>
          <a:noFill/>
          <a:ln/>
        </p:spPr>
        <p:txBody>
          <a:bodyPr wrap="square" lIns="0" tIns="0" rIns="0" bIns="0" rtlCol="0" anchor="t"/>
          <a:lstStyle/>
          <a:p>
            <a:pPr indent="0" marL="0">
              <a:buNone/>
            </a:pPr>
            <a:r>
              <a:rPr lang="en-US" sz="2200" b="1" dirty="0">
                <a:solidFill>
                  <a:srgbClr val="FFFFFF"/>
                </a:solidFill>
              </a:rPr>
              <a:t>Para Tether</a:t>
            </a:r>
            <a:endParaRPr lang="en-US" sz="2200" dirty="0"/>
          </a:p>
        </p:txBody>
      </p:sp>
      <p:sp>
        <p:nvSpPr>
          <p:cNvPr id="11" name="Lista Para Tether"/>
          <p:cNvSpPr txBox="1"/>
          <p:nvPr/>
        </p:nvSpPr>
        <p:spPr>
          <a:xfrm>
            <a:off x="6446520" y="3200400"/>
            <a:ext cx="4937760" cy="2468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C5D3CF"/>
                </a:solidFill>
              </a:rPr>
              <a:t>Un caso real de QVAC en un servicio público: IA local y privada.</a:t>
            </a:r>
            <a:endParaRPr lang="en-US" sz="1500" dirty="0"/>
          </a:p>
          <a:p>
            <a:pPr marL="228600" indent="-228600">
              <a:spcAft>
                <a:spcPts val="800"/>
              </a:spcAft>
              <a:buSzPct val="100000"/>
              <a:buChar char="•"/>
            </a:pPr>
            <a:r>
              <a:rPr lang="en-US" sz="1500" dirty="0">
                <a:solidFill>
                  <a:srgbClr val="C5D3CF"/>
                </a:solidFill>
              </a:rPr>
              <a:t>Sin pagar a terceros por cada consulta de IA.</a:t>
            </a:r>
            <a:endParaRPr lang="en-US" sz="1500" dirty="0"/>
          </a:p>
          <a:p>
            <a:pPr marL="228600" indent="-228600">
              <a:spcAft>
                <a:spcPts val="800"/>
              </a:spcAft>
              <a:buSzPct val="100000"/>
              <a:buChar char="•"/>
            </a:pPr>
            <a:r>
              <a:rPr lang="en-US" sz="1500" dirty="0">
                <a:solidFill>
                  <a:srgbClr val="C5D3CF"/>
                </a:solidFill>
              </a:rPr>
              <a:t>Si falla la IA o la red, un motor de reglas responde igual.</a:t>
            </a:r>
            <a:endParaRPr lang="en-US" sz="1500" dirty="0"/>
          </a:p>
          <a:p>
            <a:pPr marL="228600" indent="-228600">
              <a:spcAft>
                <a:spcPts val="800"/>
              </a:spcAft>
              <a:buSzPct val="100000"/>
              <a:buChar char="•"/>
            </a:pPr>
            <a:r>
              <a:rPr lang="en-US" sz="1500" dirty="0">
                <a:solidFill>
                  <a:srgbClr val="C5D3CF"/>
                </a:solidFill>
              </a:rPr>
              <a:t>Escalable a voz local y a otros países de la región.</a:t>
            </a:r>
            <a:endParaRPr lang="en-US" sz="1500" dirty="0"/>
          </a:p>
        </p:txBody>
      </p:sp>
      <p:sp>
        <p:nvSpPr>
          <p:cNvPr id="12" name="gob.pe"/>
          <p:cNvSpPr txBox="1"/>
          <p:nvPr/>
        </p:nvSpPr>
        <p:spPr>
          <a:xfrm>
            <a:off x="548640" y="5989320"/>
            <a:ext cx="7315200" cy="320040"/>
          </a:xfrm>
          <a:prstGeom prst="rect">
            <a:avLst/>
          </a:prstGeom>
          <a:noFill/>
          <a:ln/>
        </p:spPr>
        <p:txBody>
          <a:bodyPr wrap="square" lIns="0" tIns="0" rIns="0" bIns="0" rtlCol="0" anchor="ctr"/>
          <a:lstStyle/>
          <a:p>
            <a:pPr indent="0" marL="0">
              <a:buNone/>
            </a:pPr>
            <a:r>
              <a:rPr lang="en-US" sz="1300" b="1" dirty="0">
                <a:solidFill>
                  <a:srgbClr val="5FD3A9"/>
                </a:solidFill>
              </a:rPr>
              <a:t>Pensado para integrarse al portal de empleo de gob.pe</a:t>
            </a:r>
            <a:endParaRPr lang="en-US" sz="13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06 · IMPACT</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Que la experiencia de millones </a:t>
            </a:r>
            <a:pPr algn="l" indent="0" marL="0">
              <a:buNone/>
            </a:pPr>
            <a:r>
              <a:rPr lang="en-US" sz="3400" b="1" dirty="0">
                <a:solidFill>
                  <a:srgbClr val="5FD3A9"/>
                </a:solidFill>
              </a:rPr>
              <a:t>cuente</a:t>
            </a:r>
            <a:endParaRPr lang="en-US" sz="3400" dirty="0"/>
          </a:p>
        </p:txBody>
      </p:sp>
      <p:sp>
        <p:nvSpPr>
          <p:cNvPr id="4" name="Cifra 69,8 %"/>
          <p:cNvSpPr/>
          <p:nvPr/>
        </p:nvSpPr>
        <p:spPr>
          <a:xfrm>
            <a:off x="548640" y="2011680"/>
            <a:ext cx="2651760" cy="2240280"/>
          </a:xfrm>
          <a:prstGeom prst="roundRect">
            <a:avLst>
              <a:gd name="adj" fmla="val 6122"/>
            </a:avLst>
          </a:prstGeom>
          <a:solidFill>
            <a:srgbClr val="1C2C27"/>
          </a:solidFill>
          <a:ln w="12700">
            <a:solidFill>
              <a:srgbClr val="2C3D38"/>
            </a:solidFill>
            <a:prstDash val="solid"/>
          </a:ln>
        </p:spPr>
      </p:sp>
      <p:sp>
        <p:nvSpPr>
          <p:cNvPr id="5" name="Text 3"/>
          <p:cNvSpPr txBox="1"/>
          <p:nvPr/>
        </p:nvSpPr>
        <p:spPr>
          <a:xfrm>
            <a:off x="777240" y="2194560"/>
            <a:ext cx="2286000" cy="914400"/>
          </a:xfrm>
          <a:prstGeom prst="rect">
            <a:avLst/>
          </a:prstGeom>
          <a:noFill/>
          <a:ln/>
        </p:spPr>
        <p:txBody>
          <a:bodyPr wrap="square" lIns="0" tIns="0" rIns="0" bIns="0" rtlCol="0" anchor="t"/>
          <a:lstStyle/>
          <a:p>
            <a:pPr indent="0" marL="0">
              <a:buNone/>
            </a:pPr>
            <a:r>
              <a:rPr lang="en-US" sz="4400" b="1" dirty="0">
                <a:solidFill>
                  <a:srgbClr val="F5B82E"/>
                </a:solidFill>
              </a:rPr>
              <a:t>69,8 %</a:t>
            </a:r>
            <a:endParaRPr lang="en-US" sz="4400" dirty="0"/>
          </a:p>
        </p:txBody>
      </p:sp>
      <p:sp>
        <p:nvSpPr>
          <p:cNvPr id="6" name="Text 4"/>
          <p:cNvSpPr txBox="1"/>
          <p:nvPr/>
        </p:nvSpPr>
        <p:spPr>
          <a:xfrm>
            <a:off x="777240" y="3154680"/>
            <a:ext cx="2240280" cy="1005840"/>
          </a:xfrm>
          <a:prstGeom prst="rect">
            <a:avLst/>
          </a:prstGeom>
          <a:noFill/>
          <a:ln/>
        </p:spPr>
        <p:txBody>
          <a:bodyPr wrap="square" lIns="0" tIns="0" rIns="0" bIns="0" rtlCol="0" anchor="t"/>
          <a:lstStyle/>
          <a:p>
            <a:pPr indent="0" marL="0">
              <a:buNone/>
            </a:pPr>
            <a:r>
              <a:rPr lang="en-US" sz="1400" dirty="0">
                <a:solidFill>
                  <a:srgbClr val="C5D3CF"/>
                </a:solidFill>
              </a:rPr>
              <a:t>de los trabajadores en el Perú tiene empleo informal (INEI)</a:t>
            </a:r>
            <a:endParaRPr lang="en-US" sz="1400" dirty="0"/>
          </a:p>
        </p:txBody>
      </p:sp>
      <p:sp>
        <p:nvSpPr>
          <p:cNvPr id="7" name="Cifra 5 → 13"/>
          <p:cNvSpPr/>
          <p:nvPr/>
        </p:nvSpPr>
        <p:spPr>
          <a:xfrm>
            <a:off x="3364992" y="2011680"/>
            <a:ext cx="2651760" cy="2240280"/>
          </a:xfrm>
          <a:prstGeom prst="roundRect">
            <a:avLst>
              <a:gd name="adj" fmla="val 6122"/>
            </a:avLst>
          </a:prstGeom>
          <a:solidFill>
            <a:srgbClr val="1C2C27"/>
          </a:solidFill>
          <a:ln w="12700">
            <a:solidFill>
              <a:srgbClr val="2C3D38"/>
            </a:solidFill>
            <a:prstDash val="solid"/>
          </a:ln>
        </p:spPr>
      </p:sp>
      <p:sp>
        <p:nvSpPr>
          <p:cNvPr id="8" name="Text 6"/>
          <p:cNvSpPr txBox="1"/>
          <p:nvPr/>
        </p:nvSpPr>
        <p:spPr>
          <a:xfrm>
            <a:off x="3593592" y="2194560"/>
            <a:ext cx="2286000" cy="914400"/>
          </a:xfrm>
          <a:prstGeom prst="rect">
            <a:avLst/>
          </a:prstGeom>
          <a:noFill/>
          <a:ln/>
        </p:spPr>
        <p:txBody>
          <a:bodyPr wrap="square" lIns="0" tIns="0" rIns="0" bIns="0" rtlCol="0" anchor="t"/>
          <a:lstStyle/>
          <a:p>
            <a:pPr indent="0" marL="0">
              <a:buNone/>
            </a:pPr>
            <a:r>
              <a:rPr lang="en-US" sz="4400" b="1" dirty="0">
                <a:solidFill>
                  <a:srgbClr val="5FD3A9"/>
                </a:solidFill>
              </a:rPr>
              <a:t>5 → 13</a:t>
            </a:r>
            <a:endParaRPr lang="en-US" sz="4400" dirty="0"/>
          </a:p>
        </p:txBody>
      </p:sp>
      <p:sp>
        <p:nvSpPr>
          <p:cNvPr id="9" name="Text 7"/>
          <p:cNvSpPr txBox="1"/>
          <p:nvPr/>
        </p:nvSpPr>
        <p:spPr>
          <a:xfrm>
            <a:off x="3593592" y="3154680"/>
            <a:ext cx="2240280" cy="1005840"/>
          </a:xfrm>
          <a:prstGeom prst="rect">
            <a:avLst/>
          </a:prstGeom>
          <a:noFill/>
          <a:ln/>
        </p:spPr>
        <p:txBody>
          <a:bodyPr wrap="square" lIns="0" tIns="0" rIns="0" bIns="0" rtlCol="0" anchor="t"/>
          <a:lstStyle/>
          <a:p>
            <a:pPr indent="0" marL="0">
              <a:buNone/>
            </a:pPr>
            <a:r>
              <a:rPr lang="en-US" sz="1400" dirty="0">
                <a:solidFill>
                  <a:srgbClr val="C5D3CF"/>
                </a:solidFill>
              </a:rPr>
              <a:t>oficios: los 5 priorizados por el MTPE y 8 rutas más</a:t>
            </a:r>
            <a:endParaRPr lang="en-US" sz="1400" dirty="0"/>
          </a:p>
        </p:txBody>
      </p:sp>
      <p:sp>
        <p:nvSpPr>
          <p:cNvPr id="10" name="Cifra S/ 0"/>
          <p:cNvSpPr/>
          <p:nvPr/>
        </p:nvSpPr>
        <p:spPr>
          <a:xfrm>
            <a:off x="6181344" y="2011680"/>
            <a:ext cx="2651760" cy="2240280"/>
          </a:xfrm>
          <a:prstGeom prst="roundRect">
            <a:avLst>
              <a:gd name="adj" fmla="val 6122"/>
            </a:avLst>
          </a:prstGeom>
          <a:solidFill>
            <a:srgbClr val="1C2C27"/>
          </a:solidFill>
          <a:ln w="12700">
            <a:solidFill>
              <a:srgbClr val="2C3D38"/>
            </a:solidFill>
            <a:prstDash val="solid"/>
          </a:ln>
        </p:spPr>
      </p:sp>
      <p:sp>
        <p:nvSpPr>
          <p:cNvPr id="11" name="Text 9"/>
          <p:cNvSpPr txBox="1"/>
          <p:nvPr/>
        </p:nvSpPr>
        <p:spPr>
          <a:xfrm>
            <a:off x="6409944" y="2194560"/>
            <a:ext cx="2286000" cy="914400"/>
          </a:xfrm>
          <a:prstGeom prst="rect">
            <a:avLst/>
          </a:prstGeom>
          <a:noFill/>
          <a:ln/>
        </p:spPr>
        <p:txBody>
          <a:bodyPr wrap="square" lIns="0" tIns="0" rIns="0" bIns="0" rtlCol="0" anchor="t"/>
          <a:lstStyle/>
          <a:p>
            <a:pPr indent="0" marL="0">
              <a:buNone/>
            </a:pPr>
            <a:r>
              <a:rPr lang="en-US" sz="4400" b="1" dirty="0">
                <a:solidFill>
                  <a:srgbClr val="5FD3A9"/>
                </a:solidFill>
              </a:rPr>
              <a:t>S/ 0</a:t>
            </a:r>
            <a:endParaRPr lang="en-US" sz="4400" dirty="0"/>
          </a:p>
        </p:txBody>
      </p:sp>
      <p:sp>
        <p:nvSpPr>
          <p:cNvPr id="12" name="Text 10"/>
          <p:cNvSpPr txBox="1"/>
          <p:nvPr/>
        </p:nvSpPr>
        <p:spPr>
          <a:xfrm>
            <a:off x="6409944" y="3154680"/>
            <a:ext cx="2240280" cy="1005840"/>
          </a:xfrm>
          <a:prstGeom prst="rect">
            <a:avLst/>
          </a:prstGeom>
          <a:noFill/>
          <a:ln/>
        </p:spPr>
        <p:txBody>
          <a:bodyPr wrap="square" lIns="0" tIns="0" rIns="0" bIns="0" rtlCol="0" anchor="t"/>
          <a:lstStyle/>
          <a:p>
            <a:pPr indent="0" marL="0">
              <a:buNone/>
            </a:pPr>
            <a:r>
              <a:rPr lang="en-US" sz="1400" dirty="0">
                <a:solidFill>
                  <a:srgbClr val="C5D3CF"/>
                </a:solidFill>
              </a:rPr>
              <a:t>para la persona: todo termina en servicios gratuitos</a:t>
            </a:r>
            <a:endParaRPr lang="en-US" sz="1400" dirty="0"/>
          </a:p>
        </p:txBody>
      </p:sp>
      <p:sp>
        <p:nvSpPr>
          <p:cNvPr id="13" name="Cifra 1"/>
          <p:cNvSpPr/>
          <p:nvPr/>
        </p:nvSpPr>
        <p:spPr>
          <a:xfrm>
            <a:off x="8997696" y="2011680"/>
            <a:ext cx="2651760" cy="2240280"/>
          </a:xfrm>
          <a:prstGeom prst="roundRect">
            <a:avLst>
              <a:gd name="adj" fmla="val 6122"/>
            </a:avLst>
          </a:prstGeom>
          <a:solidFill>
            <a:srgbClr val="1C2C27"/>
          </a:solidFill>
          <a:ln w="12700">
            <a:solidFill>
              <a:srgbClr val="2C3D38"/>
            </a:solidFill>
            <a:prstDash val="solid"/>
          </a:ln>
        </p:spPr>
      </p:sp>
      <p:sp>
        <p:nvSpPr>
          <p:cNvPr id="14" name="Text 12"/>
          <p:cNvSpPr txBox="1"/>
          <p:nvPr/>
        </p:nvSpPr>
        <p:spPr>
          <a:xfrm>
            <a:off x="9226296" y="2194560"/>
            <a:ext cx="2286000" cy="914400"/>
          </a:xfrm>
          <a:prstGeom prst="rect">
            <a:avLst/>
          </a:prstGeom>
          <a:noFill/>
          <a:ln/>
        </p:spPr>
        <p:txBody>
          <a:bodyPr wrap="square" lIns="0" tIns="0" rIns="0" bIns="0" rtlCol="0" anchor="t"/>
          <a:lstStyle/>
          <a:p>
            <a:pPr indent="0" marL="0">
              <a:buNone/>
            </a:pPr>
            <a:r>
              <a:rPr lang="en-US" sz="4400" b="1" dirty="0">
                <a:solidFill>
                  <a:srgbClr val="5FD3A9"/>
                </a:solidFill>
              </a:rPr>
              <a:t>1</a:t>
            </a:r>
            <a:endParaRPr lang="en-US" sz="4400" dirty="0"/>
          </a:p>
        </p:txBody>
      </p:sp>
      <p:sp>
        <p:nvSpPr>
          <p:cNvPr id="15" name="Text 13"/>
          <p:cNvSpPr txBox="1"/>
          <p:nvPr/>
        </p:nvSpPr>
        <p:spPr>
          <a:xfrm>
            <a:off x="9226296" y="3154680"/>
            <a:ext cx="2240280" cy="1005840"/>
          </a:xfrm>
          <a:prstGeom prst="rect">
            <a:avLst/>
          </a:prstGeom>
          <a:noFill/>
          <a:ln/>
        </p:spPr>
        <p:txBody>
          <a:bodyPr wrap="square" lIns="0" tIns="0" rIns="0" bIns="0" rtlCol="0" anchor="t"/>
          <a:lstStyle/>
          <a:p>
            <a:pPr indent="0" marL="0">
              <a:buNone/>
            </a:pPr>
            <a:r>
              <a:rPr lang="en-US" sz="1400" dirty="0">
                <a:solidFill>
                  <a:srgbClr val="C5D3CF"/>
                </a:solidFill>
              </a:rPr>
              <a:t>recomendación clara, no una lista que abruma</a:t>
            </a:r>
            <a:endParaRPr lang="en-US" sz="1400" dirty="0"/>
          </a:p>
        </p:txBody>
      </p:sp>
      <p:sp>
        <p:nvSpPr>
          <p:cNvPr id="16" name="Text 14"/>
          <p:cNvSpPr txBox="1"/>
          <p:nvPr/>
        </p:nvSpPr>
        <p:spPr>
          <a:xfrm>
            <a:off x="548640" y="4572000"/>
            <a:ext cx="10972800" cy="365760"/>
          </a:xfrm>
          <a:prstGeom prst="rect">
            <a:avLst/>
          </a:prstGeom>
          <a:noFill/>
          <a:ln/>
        </p:spPr>
        <p:txBody>
          <a:bodyPr wrap="square" lIns="0" tIns="0" rIns="0" bIns="0" rtlCol="0" anchor="t"/>
          <a:lstStyle/>
          <a:p>
            <a:pPr indent="0" marL="0">
              <a:buNone/>
            </a:pPr>
            <a:r>
              <a:rPr lang="en-US" sz="1800" b="1" dirty="0">
                <a:solidFill>
                  <a:srgbClr val="FFFFFF"/>
                </a:solidFill>
              </a:rPr>
              <a:t>Lo mediremos en un piloto con Centros de Empleo</a:t>
            </a:r>
            <a:endParaRPr lang="en-US" sz="1800" dirty="0"/>
          </a:p>
        </p:txBody>
      </p:sp>
      <p:sp>
        <p:nvSpPr>
          <p:cNvPr id="17" name="Métrica Panales armados"/>
          <p:cNvSpPr txBox="1"/>
          <p:nvPr/>
        </p:nvSpPr>
        <p:spPr>
          <a:xfrm>
            <a:off x="548640" y="5120640"/>
            <a:ext cx="2103120" cy="548640"/>
          </a:xfrm>
          <a:prstGeom prst="roundRect">
            <a:avLst>
              <a:gd name="adj" fmla="val 50000"/>
            </a:avLst>
          </a:prstGeom>
          <a:solidFill>
            <a:srgbClr val="1A7A5C"/>
          </a:solidFill>
          <a:ln/>
        </p:spPr>
        <p:txBody>
          <a:bodyPr wrap="square" lIns="0" tIns="0" rIns="0" bIns="0" rtlCol="0" anchor="ctr"/>
          <a:lstStyle/>
          <a:p>
            <a:pPr algn="ctr" indent="0" marL="0">
              <a:buNone/>
            </a:pPr>
            <a:r>
              <a:rPr lang="en-US" sz="1300" b="1" dirty="0">
                <a:solidFill>
                  <a:srgbClr val="FFFFFF"/>
                </a:solidFill>
              </a:rPr>
              <a:t>Panales armados</a:t>
            </a:r>
            <a:endParaRPr lang="en-US" sz="1300" dirty="0"/>
          </a:p>
        </p:txBody>
      </p:sp>
      <p:sp>
        <p:nvSpPr>
          <p:cNvPr id="18" name="Métrica Inscritos en Capacíta-T"/>
          <p:cNvSpPr txBox="1"/>
          <p:nvPr/>
        </p:nvSpPr>
        <p:spPr>
          <a:xfrm>
            <a:off x="2788920" y="5120640"/>
            <a:ext cx="2103120" cy="548640"/>
          </a:xfrm>
          <a:prstGeom prst="roundRect">
            <a:avLst>
              <a:gd name="adj" fmla="val 50000"/>
            </a:avLst>
          </a:prstGeom>
          <a:solidFill>
            <a:srgbClr val="1A7A5C"/>
          </a:solidFill>
          <a:ln/>
        </p:spPr>
        <p:txBody>
          <a:bodyPr wrap="square" lIns="0" tIns="0" rIns="0" bIns="0" rtlCol="0" anchor="ctr"/>
          <a:lstStyle/>
          <a:p>
            <a:pPr algn="ctr" indent="0" marL="0">
              <a:buNone/>
            </a:pPr>
            <a:r>
              <a:rPr lang="en-US" sz="1300" b="1" dirty="0">
                <a:solidFill>
                  <a:srgbClr val="FFFFFF"/>
                </a:solidFill>
              </a:rPr>
              <a:t>Inscritos en Capacíta-T</a:t>
            </a:r>
            <a:endParaRPr lang="en-US" sz="1300" dirty="0"/>
          </a:p>
        </p:txBody>
      </p:sp>
      <p:sp>
        <p:nvSpPr>
          <p:cNvPr id="19" name="Métrica Postulan a otra ocupación"/>
          <p:cNvSpPr txBox="1"/>
          <p:nvPr/>
        </p:nvSpPr>
        <p:spPr>
          <a:xfrm>
            <a:off x="5029200" y="5120640"/>
            <a:ext cx="2103120" cy="548640"/>
          </a:xfrm>
          <a:prstGeom prst="roundRect">
            <a:avLst>
              <a:gd name="adj" fmla="val 50000"/>
            </a:avLst>
          </a:prstGeom>
          <a:solidFill>
            <a:srgbClr val="1A7A5C"/>
          </a:solidFill>
          <a:ln/>
        </p:spPr>
        <p:txBody>
          <a:bodyPr wrap="square" lIns="0" tIns="0" rIns="0" bIns="0" rtlCol="0" anchor="ctr"/>
          <a:lstStyle/>
          <a:p>
            <a:pPr algn="ctr" indent="0" marL="0">
              <a:buNone/>
            </a:pPr>
            <a:r>
              <a:rPr lang="en-US" sz="1300" b="1" dirty="0">
                <a:solidFill>
                  <a:srgbClr val="FFFFFF"/>
                </a:solidFill>
              </a:rPr>
              <a:t>Postulan a otra ocupación</a:t>
            </a:r>
            <a:endParaRPr lang="en-US" sz="1300" dirty="0"/>
          </a:p>
        </p:txBody>
      </p:sp>
      <p:sp>
        <p:nvSpPr>
          <p:cNvPr id="20" name="Métrica Colocados a 3 y 6 meses"/>
          <p:cNvSpPr txBox="1"/>
          <p:nvPr/>
        </p:nvSpPr>
        <p:spPr>
          <a:xfrm>
            <a:off x="7269480" y="5120640"/>
            <a:ext cx="2103120" cy="548640"/>
          </a:xfrm>
          <a:prstGeom prst="roundRect">
            <a:avLst>
              <a:gd name="adj" fmla="val 50000"/>
            </a:avLst>
          </a:prstGeom>
          <a:solidFill>
            <a:srgbClr val="1A7A5C"/>
          </a:solidFill>
          <a:ln/>
        </p:spPr>
        <p:txBody>
          <a:bodyPr wrap="square" lIns="0" tIns="0" rIns="0" bIns="0" rtlCol="0" anchor="ctr"/>
          <a:lstStyle/>
          <a:p>
            <a:pPr algn="ctr" indent="0" marL="0">
              <a:buNone/>
            </a:pPr>
            <a:r>
              <a:rPr lang="en-US" sz="1300" b="1" dirty="0">
                <a:solidFill>
                  <a:srgbClr val="FFFFFF"/>
                </a:solidFill>
              </a:rPr>
              <a:t>Colocados a 3 y 6 meses</a:t>
            </a:r>
            <a:endParaRPr lang="en-US" sz="1300" dirty="0"/>
          </a:p>
        </p:txBody>
      </p:sp>
      <p:sp>
        <p:nvSpPr>
          <p:cNvPr id="21" name="Métrica Tiempo ahorrado por asesor"/>
          <p:cNvSpPr txBox="1"/>
          <p:nvPr/>
        </p:nvSpPr>
        <p:spPr>
          <a:xfrm>
            <a:off x="9509760" y="5120640"/>
            <a:ext cx="2103120" cy="548640"/>
          </a:xfrm>
          <a:prstGeom prst="roundRect">
            <a:avLst>
              <a:gd name="adj" fmla="val 50000"/>
            </a:avLst>
          </a:prstGeom>
          <a:solidFill>
            <a:srgbClr val="1A7A5C"/>
          </a:solidFill>
          <a:ln/>
        </p:spPr>
        <p:txBody>
          <a:bodyPr wrap="square" lIns="0" tIns="0" rIns="0" bIns="0" rtlCol="0" anchor="ctr"/>
          <a:lstStyle/>
          <a:p>
            <a:pPr algn="ctr" indent="0" marL="0">
              <a:buNone/>
            </a:pPr>
            <a:r>
              <a:rPr lang="en-US" sz="1300" b="1" dirty="0">
                <a:solidFill>
                  <a:srgbClr val="FFFFFF"/>
                </a:solidFill>
              </a:rPr>
              <a:t>Tiempo ahorrado por asesor</a:t>
            </a:r>
            <a:endParaRPr lang="en-US" sz="13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07 · ASK</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Lo que </a:t>
            </a:r>
            <a:pPr algn="l" indent="0" marL="0">
              <a:buNone/>
            </a:pPr>
            <a:r>
              <a:rPr lang="en-US" sz="3400" b="1" dirty="0">
                <a:solidFill>
                  <a:srgbClr val="5FD3A9"/>
                </a:solidFill>
              </a:rPr>
              <a:t>pedimos</a:t>
            </a:r>
            <a:endParaRPr lang="en-US" sz="3400" dirty="0"/>
          </a:p>
        </p:txBody>
      </p:sp>
      <p:sp>
        <p:nvSpPr>
          <p:cNvPr id="4" name="Al MTPE"/>
          <p:cNvSpPr/>
          <p:nvPr/>
        </p:nvSpPr>
        <p:spPr>
          <a:xfrm>
            <a:off x="548640" y="2011680"/>
            <a:ext cx="5440680" cy="2651760"/>
          </a:xfrm>
          <a:prstGeom prst="roundRect">
            <a:avLst>
              <a:gd name="adj" fmla="val 5172"/>
            </a:avLst>
          </a:prstGeom>
          <a:solidFill>
            <a:srgbClr val="1C2C27"/>
          </a:solidFill>
          <a:ln w="12700">
            <a:solidFill>
              <a:srgbClr val="2C3D38"/>
            </a:solidFill>
            <a:prstDash val="solid"/>
          </a:ln>
        </p:spPr>
      </p:sp>
      <p:sp>
        <p:nvSpPr>
          <p:cNvPr id="5" name="Text 3"/>
          <p:cNvSpPr txBox="1"/>
          <p:nvPr/>
        </p:nvSpPr>
        <p:spPr>
          <a:xfrm>
            <a:off x="822960" y="2194560"/>
            <a:ext cx="4846320" cy="457200"/>
          </a:xfrm>
          <a:prstGeom prst="rect">
            <a:avLst/>
          </a:prstGeom>
          <a:noFill/>
          <a:ln/>
        </p:spPr>
        <p:txBody>
          <a:bodyPr wrap="square" lIns="0" tIns="0" rIns="0" bIns="0" rtlCol="0" anchor="t"/>
          <a:lstStyle/>
          <a:p>
            <a:pPr indent="0" marL="0">
              <a:buNone/>
            </a:pPr>
            <a:r>
              <a:rPr lang="en-US" sz="2200" b="1" dirty="0">
                <a:solidFill>
                  <a:srgbClr val="F5B82E"/>
                </a:solidFill>
              </a:rPr>
              <a:t>Al MTPE</a:t>
            </a:r>
            <a:endParaRPr lang="en-US" sz="2200" dirty="0"/>
          </a:p>
        </p:txBody>
      </p:sp>
      <p:sp>
        <p:nvSpPr>
          <p:cNvPr id="6" name="Hexágono 1"/>
          <p:cNvSpPr txBox="1"/>
          <p:nvPr/>
        </p:nvSpPr>
        <p:spPr>
          <a:xfrm>
            <a:off x="822960" y="2816352"/>
            <a:ext cx="384048" cy="332586"/>
          </a:xfrm>
          <a:prstGeom prst="hexagon">
            <a:avLst/>
          </a:prstGeom>
          <a:solidFill>
            <a:srgbClr val="F5B82E"/>
          </a:solidFill>
          <a:ln/>
        </p:spPr>
        <p:txBody>
          <a:bodyPr wrap="square" lIns="0" tIns="0" rIns="0" bIns="0" rtlCol="0" anchor="ctr"/>
          <a:lstStyle/>
          <a:p>
            <a:pPr algn="ctr" indent="0" marL="0">
              <a:buNone/>
            </a:pPr>
            <a:r>
              <a:rPr lang="en-US" sz="1200" b="1" dirty="0">
                <a:solidFill>
                  <a:srgbClr val="0E1A17"/>
                </a:solidFill>
              </a:rPr>
              <a:t>1</a:t>
            </a:r>
            <a:endParaRPr lang="en-US" sz="1200" dirty="0"/>
          </a:p>
        </p:txBody>
      </p:sp>
      <p:sp>
        <p:nvSpPr>
          <p:cNvPr id="7" name="Text 5"/>
          <p:cNvSpPr txBox="1"/>
          <p:nvPr/>
        </p:nvSpPr>
        <p:spPr>
          <a:xfrm>
            <a:off x="1371600" y="2816352"/>
            <a:ext cx="4434840" cy="457200"/>
          </a:xfrm>
          <a:prstGeom prst="rect">
            <a:avLst/>
          </a:prstGeom>
          <a:noFill/>
          <a:ln/>
        </p:spPr>
        <p:txBody>
          <a:bodyPr wrap="square" lIns="0" tIns="0" rIns="0" bIns="0" rtlCol="0" anchor="ctr"/>
          <a:lstStyle/>
          <a:p>
            <a:pPr indent="0" marL="0">
              <a:buNone/>
            </a:pPr>
            <a:r>
              <a:rPr lang="en-US" sz="1500" dirty="0">
                <a:solidFill>
                  <a:srgbClr val="C5D3CF"/>
                </a:solidFill>
              </a:rPr>
              <a:t>Estándares de competencia, EDO 2026 y catálogo de Capacíta-T.</a:t>
            </a:r>
            <a:endParaRPr lang="en-US" sz="1500" dirty="0"/>
          </a:p>
        </p:txBody>
      </p:sp>
      <p:sp>
        <p:nvSpPr>
          <p:cNvPr id="8" name="Hexágono 2"/>
          <p:cNvSpPr txBox="1"/>
          <p:nvPr/>
        </p:nvSpPr>
        <p:spPr>
          <a:xfrm>
            <a:off x="822960" y="3383280"/>
            <a:ext cx="384048" cy="332586"/>
          </a:xfrm>
          <a:prstGeom prst="hexagon">
            <a:avLst/>
          </a:prstGeom>
          <a:solidFill>
            <a:srgbClr val="F5B82E"/>
          </a:solidFill>
          <a:ln/>
        </p:spPr>
        <p:txBody>
          <a:bodyPr wrap="square" lIns="0" tIns="0" rIns="0" bIns="0" rtlCol="0" anchor="ctr"/>
          <a:lstStyle/>
          <a:p>
            <a:pPr algn="ctr" indent="0" marL="0">
              <a:buNone/>
            </a:pPr>
            <a:r>
              <a:rPr lang="en-US" sz="1200" b="1" dirty="0">
                <a:solidFill>
                  <a:srgbClr val="0E1A17"/>
                </a:solidFill>
              </a:rPr>
              <a:t>2</a:t>
            </a:r>
            <a:endParaRPr lang="en-US" sz="1200" dirty="0"/>
          </a:p>
        </p:txBody>
      </p:sp>
      <p:sp>
        <p:nvSpPr>
          <p:cNvPr id="9" name="Text 7"/>
          <p:cNvSpPr txBox="1"/>
          <p:nvPr/>
        </p:nvSpPr>
        <p:spPr>
          <a:xfrm>
            <a:off x="1371600" y="3383280"/>
            <a:ext cx="4434840" cy="457200"/>
          </a:xfrm>
          <a:prstGeom prst="rect">
            <a:avLst/>
          </a:prstGeom>
          <a:noFill/>
          <a:ln/>
        </p:spPr>
        <p:txBody>
          <a:bodyPr wrap="square" lIns="0" tIns="0" rIns="0" bIns="0" rtlCol="0" anchor="ctr"/>
          <a:lstStyle/>
          <a:p>
            <a:pPr indent="0" marL="0">
              <a:buNone/>
            </a:pPr>
            <a:r>
              <a:rPr lang="en-US" sz="1500" dirty="0">
                <a:solidFill>
                  <a:srgbClr val="C5D3CF"/>
                </a:solidFill>
              </a:rPr>
              <a:t>Un piloto en Centros de Empleo de 3 regiones.</a:t>
            </a:r>
            <a:endParaRPr lang="en-US" sz="1500" dirty="0"/>
          </a:p>
        </p:txBody>
      </p:sp>
      <p:sp>
        <p:nvSpPr>
          <p:cNvPr id="10" name="Hexágono 3"/>
          <p:cNvSpPr txBox="1"/>
          <p:nvPr/>
        </p:nvSpPr>
        <p:spPr>
          <a:xfrm>
            <a:off x="822960" y="3950208"/>
            <a:ext cx="384048" cy="332586"/>
          </a:xfrm>
          <a:prstGeom prst="hexagon">
            <a:avLst/>
          </a:prstGeom>
          <a:solidFill>
            <a:srgbClr val="F5B82E"/>
          </a:solidFill>
          <a:ln/>
        </p:spPr>
        <p:txBody>
          <a:bodyPr wrap="square" lIns="0" tIns="0" rIns="0" bIns="0" rtlCol="0" anchor="ctr"/>
          <a:lstStyle/>
          <a:p>
            <a:pPr algn="ctr" indent="0" marL="0">
              <a:buNone/>
            </a:pPr>
            <a:r>
              <a:rPr lang="en-US" sz="1200" b="1" dirty="0">
                <a:solidFill>
                  <a:srgbClr val="0E1A17"/>
                </a:solidFill>
              </a:rPr>
              <a:t>3</a:t>
            </a:r>
            <a:endParaRPr lang="en-US" sz="1200" dirty="0"/>
          </a:p>
        </p:txBody>
      </p:sp>
      <p:sp>
        <p:nvSpPr>
          <p:cNvPr id="11" name="Text 9"/>
          <p:cNvSpPr txBox="1"/>
          <p:nvPr/>
        </p:nvSpPr>
        <p:spPr>
          <a:xfrm>
            <a:off x="1371600" y="3950208"/>
            <a:ext cx="4434840" cy="457200"/>
          </a:xfrm>
          <a:prstGeom prst="rect">
            <a:avLst/>
          </a:prstGeom>
          <a:noFill/>
          <a:ln/>
        </p:spPr>
        <p:txBody>
          <a:bodyPr wrap="square" lIns="0" tIns="0" rIns="0" bIns="0" rtlCol="0" anchor="ctr"/>
          <a:lstStyle/>
          <a:p>
            <a:pPr indent="0" marL="0">
              <a:buNone/>
            </a:pPr>
            <a:r>
              <a:rPr lang="en-US" sz="1500" dirty="0">
                <a:solidFill>
                  <a:srgbClr val="C5D3CF"/>
                </a:solidFill>
              </a:rPr>
              <a:t>Integración con Empleos Perú y gob.pe.</a:t>
            </a:r>
            <a:endParaRPr lang="en-US" sz="1500" dirty="0"/>
          </a:p>
        </p:txBody>
      </p:sp>
      <p:sp>
        <p:nvSpPr>
          <p:cNvPr id="12" name="A Tether"/>
          <p:cNvSpPr/>
          <p:nvPr/>
        </p:nvSpPr>
        <p:spPr>
          <a:xfrm>
            <a:off x="6172200" y="2011680"/>
            <a:ext cx="5440680" cy="2651760"/>
          </a:xfrm>
          <a:prstGeom prst="roundRect">
            <a:avLst>
              <a:gd name="adj" fmla="val 5172"/>
            </a:avLst>
          </a:prstGeom>
          <a:solidFill>
            <a:srgbClr val="1C2C27"/>
          </a:solidFill>
          <a:ln w="12700">
            <a:solidFill>
              <a:srgbClr val="2C3D38"/>
            </a:solidFill>
            <a:prstDash val="solid"/>
          </a:ln>
        </p:spPr>
      </p:sp>
      <p:sp>
        <p:nvSpPr>
          <p:cNvPr id="13" name="Text 11"/>
          <p:cNvSpPr txBox="1"/>
          <p:nvPr/>
        </p:nvSpPr>
        <p:spPr>
          <a:xfrm>
            <a:off x="6446520" y="2194560"/>
            <a:ext cx="4846320" cy="457200"/>
          </a:xfrm>
          <a:prstGeom prst="rect">
            <a:avLst/>
          </a:prstGeom>
          <a:noFill/>
          <a:ln/>
        </p:spPr>
        <p:txBody>
          <a:bodyPr wrap="square" lIns="0" tIns="0" rIns="0" bIns="0" rtlCol="0" anchor="t"/>
          <a:lstStyle/>
          <a:p>
            <a:pPr indent="0" marL="0">
              <a:buNone/>
            </a:pPr>
            <a:r>
              <a:rPr lang="en-US" sz="2200" b="1" dirty="0">
                <a:solidFill>
                  <a:srgbClr val="26A17B"/>
                </a:solidFill>
              </a:rPr>
              <a:t>A Tether</a:t>
            </a:r>
            <a:endParaRPr lang="en-US" sz="2200" dirty="0"/>
          </a:p>
        </p:txBody>
      </p:sp>
      <p:sp>
        <p:nvSpPr>
          <p:cNvPr id="14" name="Hexágono 1"/>
          <p:cNvSpPr txBox="1"/>
          <p:nvPr/>
        </p:nvSpPr>
        <p:spPr>
          <a:xfrm>
            <a:off x="6446520" y="2816352"/>
            <a:ext cx="384048" cy="332586"/>
          </a:xfrm>
          <a:prstGeom prst="hexagon">
            <a:avLst/>
          </a:prstGeom>
          <a:solidFill>
            <a:srgbClr val="26A17B"/>
          </a:solidFill>
          <a:ln/>
        </p:spPr>
        <p:txBody>
          <a:bodyPr wrap="square" lIns="0" tIns="0" rIns="0" bIns="0" rtlCol="0" anchor="ctr"/>
          <a:lstStyle/>
          <a:p>
            <a:pPr algn="ctr" indent="0" marL="0">
              <a:buNone/>
            </a:pPr>
            <a:r>
              <a:rPr lang="en-US" sz="1200" b="1" dirty="0">
                <a:solidFill>
                  <a:srgbClr val="0E1A17"/>
                </a:solidFill>
              </a:rPr>
              <a:t>1</a:t>
            </a:r>
            <a:endParaRPr lang="en-US" sz="1200" dirty="0"/>
          </a:p>
        </p:txBody>
      </p:sp>
      <p:sp>
        <p:nvSpPr>
          <p:cNvPr id="15" name="Text 13"/>
          <p:cNvSpPr txBox="1"/>
          <p:nvPr/>
        </p:nvSpPr>
        <p:spPr>
          <a:xfrm>
            <a:off x="6995160" y="2816352"/>
            <a:ext cx="4434840" cy="457200"/>
          </a:xfrm>
          <a:prstGeom prst="rect">
            <a:avLst/>
          </a:prstGeom>
          <a:noFill/>
          <a:ln/>
        </p:spPr>
        <p:txBody>
          <a:bodyPr wrap="square" lIns="0" tIns="0" rIns="0" bIns="0" rtlCol="0" anchor="ctr"/>
          <a:lstStyle/>
          <a:p>
            <a:pPr indent="0" marL="0">
              <a:buNone/>
            </a:pPr>
            <a:r>
              <a:rPr lang="en-US" sz="1500" dirty="0">
                <a:solidFill>
                  <a:srgbClr val="C5D3CF"/>
                </a:solidFill>
              </a:rPr>
              <a:t>Acompañamiento técnico de QVAC: modelo en español y voz local.</a:t>
            </a:r>
            <a:endParaRPr lang="en-US" sz="1500" dirty="0"/>
          </a:p>
        </p:txBody>
      </p:sp>
      <p:sp>
        <p:nvSpPr>
          <p:cNvPr id="16" name="Hexágono 2"/>
          <p:cNvSpPr txBox="1"/>
          <p:nvPr/>
        </p:nvSpPr>
        <p:spPr>
          <a:xfrm>
            <a:off x="6446520" y="3383280"/>
            <a:ext cx="384048" cy="332586"/>
          </a:xfrm>
          <a:prstGeom prst="hexagon">
            <a:avLst/>
          </a:prstGeom>
          <a:solidFill>
            <a:srgbClr val="26A17B"/>
          </a:solidFill>
          <a:ln/>
        </p:spPr>
        <p:txBody>
          <a:bodyPr wrap="square" lIns="0" tIns="0" rIns="0" bIns="0" rtlCol="0" anchor="ctr"/>
          <a:lstStyle/>
          <a:p>
            <a:pPr algn="ctr" indent="0" marL="0">
              <a:buNone/>
            </a:pPr>
            <a:r>
              <a:rPr lang="en-US" sz="1200" b="1" dirty="0">
                <a:solidFill>
                  <a:srgbClr val="0E1A17"/>
                </a:solidFill>
              </a:rPr>
              <a:t>2</a:t>
            </a:r>
            <a:endParaRPr lang="en-US" sz="1200" dirty="0"/>
          </a:p>
        </p:txBody>
      </p:sp>
      <p:sp>
        <p:nvSpPr>
          <p:cNvPr id="17" name="Text 15"/>
          <p:cNvSpPr txBox="1"/>
          <p:nvPr/>
        </p:nvSpPr>
        <p:spPr>
          <a:xfrm>
            <a:off x="6995160" y="3383280"/>
            <a:ext cx="4434840" cy="457200"/>
          </a:xfrm>
          <a:prstGeom prst="rect">
            <a:avLst/>
          </a:prstGeom>
          <a:noFill/>
          <a:ln/>
        </p:spPr>
        <p:txBody>
          <a:bodyPr wrap="square" lIns="0" tIns="0" rIns="0" bIns="0" rtlCol="0" anchor="ctr"/>
          <a:lstStyle/>
          <a:p>
            <a:pPr indent="0" marL="0">
              <a:buNone/>
            </a:pPr>
            <a:r>
              <a:rPr lang="en-US" sz="1500" dirty="0">
                <a:solidFill>
                  <a:srgbClr val="C5D3CF"/>
                </a:solidFill>
              </a:rPr>
              <a:t>Infraestructura para el servidor del piloto.</a:t>
            </a:r>
            <a:endParaRPr lang="en-US" sz="1500" dirty="0"/>
          </a:p>
        </p:txBody>
      </p:sp>
      <p:sp>
        <p:nvSpPr>
          <p:cNvPr id="18" name="Cierre"/>
          <p:cNvSpPr txBox="1"/>
          <p:nvPr/>
        </p:nvSpPr>
        <p:spPr>
          <a:xfrm>
            <a:off x="548640" y="5074920"/>
            <a:ext cx="11064240" cy="822960"/>
          </a:xfrm>
          <a:prstGeom prst="rect">
            <a:avLst/>
          </a:prstGeom>
          <a:noFill/>
          <a:ln/>
        </p:spPr>
        <p:txBody>
          <a:bodyPr wrap="square" lIns="0" tIns="0" rIns="0" bIns="0" rtlCol="0" anchor="ctr"/>
          <a:lstStyle/>
          <a:p>
            <a:pPr indent="0" marL="0">
              <a:buNone/>
            </a:pPr>
            <a:r>
              <a:rPr lang="en-US" sz="3000" b="1" dirty="0">
                <a:solidFill>
                  <a:srgbClr val="FFFFFF"/>
                </a:solidFill>
              </a:rPr>
              <a:t>Rosa no tiene que empezar de cero. </a:t>
            </a:r>
            <a:pPr indent="0" marL="0">
              <a:buNone/>
            </a:pPr>
            <a:r>
              <a:rPr lang="en-US" sz="3000" b="1" dirty="0">
                <a:solidFill>
                  <a:srgbClr val="F5B82E"/>
                </a:solidFill>
              </a:rPr>
              <a:t>Su chamba cuenta.</a:t>
            </a:r>
            <a:endParaRPr lang="en-US" sz="30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Logo" descr="Logo de Chambea">    </p:cNvPr>
          <p:cNvPicPr>
            <a:picLocks noChangeAspect="1"/>
          </p:cNvPicPr>
          <p:nvPr/>
        </p:nvPicPr>
        <p:blipFill>
          <a:blip r:embed="rId1"/>
          <a:stretch>
            <a:fillRect/>
          </a:stretch>
        </p:blipFill>
        <p:spPr>
          <a:xfrm>
            <a:off x="640080" y="685800"/>
            <a:ext cx="3017520" cy="822960"/>
          </a:xfrm>
          <a:prstGeom prst="rect">
            <a:avLst/>
          </a:prstGeom>
        </p:spPr>
      </p:pic>
      <p:sp>
        <p:nvSpPr>
          <p:cNvPr id="3" name="Gracias"/>
          <p:cNvSpPr txBox="1"/>
          <p:nvPr/>
        </p:nvSpPr>
        <p:spPr>
          <a:xfrm>
            <a:off x="640080" y="1783080"/>
            <a:ext cx="6949440" cy="1600200"/>
          </a:xfrm>
          <a:prstGeom prst="rect">
            <a:avLst/>
          </a:prstGeom>
          <a:noFill/>
          <a:ln/>
        </p:spPr>
        <p:txBody>
          <a:bodyPr wrap="square" lIns="0" tIns="0" rIns="0" bIns="0" rtlCol="0" anchor="t"/>
          <a:lstStyle/>
          <a:p>
            <a:pPr indent="0" marL="0">
              <a:buNone/>
            </a:pPr>
            <a:r>
              <a:rPr lang="en-US" sz="4800" b="1" dirty="0">
                <a:solidFill>
                  <a:srgbClr val="FFFFFF"/>
                </a:solidFill>
              </a:rPr>
              <a:t>Gracias. </a:t>
            </a:r>
            <a:pPr indent="0" marL="0">
              <a:buNone/>
            </a:pPr>
            <a:r>
              <a:rPr lang="en-US" sz="4800" b="1" dirty="0">
                <a:solidFill>
                  <a:srgbClr val="F5B82E"/>
                </a:solidFill>
              </a:rPr>
              <a:t>Tu chamba cuenta.</a:t>
            </a:r>
            <a:endParaRPr lang="en-US" sz="4800" dirty="0"/>
          </a:p>
        </p:txBody>
      </p:sp>
      <p:sp>
        <p:nvSpPr>
          <p:cNvPr id="4" name="Text 1"/>
          <p:cNvSpPr txBox="1"/>
          <p:nvPr/>
        </p:nvSpPr>
        <p:spPr>
          <a:xfrm>
            <a:off x="640080" y="3611880"/>
            <a:ext cx="5943600" cy="731520"/>
          </a:xfrm>
          <a:prstGeom prst="rect">
            <a:avLst/>
          </a:prstGeom>
          <a:noFill/>
          <a:ln/>
        </p:spPr>
        <p:txBody>
          <a:bodyPr wrap="square" lIns="0" tIns="0" rIns="0" bIns="0" rtlCol="0" anchor="t"/>
          <a:lstStyle/>
          <a:p>
            <a:pPr indent="0" marL="0">
              <a:buNone/>
            </a:pPr>
            <a:r>
              <a:rPr lang="en-US" sz="2000" dirty="0">
                <a:solidFill>
                  <a:srgbClr val="C5D3CF"/>
                </a:solidFill>
              </a:rPr>
              <a:t>Prueba el prototipo funcional desde tu celular: escanea el código.</a:t>
            </a:r>
            <a:endParaRPr lang="en-US" sz="2000" dirty="0"/>
          </a:p>
        </p:txBody>
      </p:sp>
      <p:sp>
        <p:nvSpPr>
          <p:cNvPr id="5" name="Text 2"/>
          <p:cNvSpPr txBox="1"/>
          <p:nvPr/>
        </p:nvSpPr>
        <p:spPr>
          <a:xfrm>
            <a:off x="640080" y="4389120"/>
            <a:ext cx="5943600" cy="457200"/>
          </a:xfrm>
          <a:prstGeom prst="rect">
            <a:avLst/>
          </a:prstGeom>
          <a:noFill/>
          <a:ln/>
        </p:spPr>
        <p:txBody>
          <a:bodyPr wrap="square" lIns="0" tIns="0" rIns="0" bIns="0" rtlCol="0" anchor="t"/>
          <a:lstStyle/>
          <a:p>
            <a:pPr indent="0" marL="0">
              <a:buNone/>
            </a:pPr>
            <a:r>
              <a:rPr lang="en-US" sz="2000" b="1" dirty="0">
                <a:solidFill>
                  <a:srgbClr val="5FD3A9"/>
                </a:solidFill>
              </a:rPr>
              <a:t>andyferaldo.github.io/chambea</a:t>
            </a:r>
            <a:endParaRPr lang="en-US" sz="2000" dirty="0"/>
          </a:p>
        </p:txBody>
      </p:sp>
      <p:sp>
        <p:nvSpPr>
          <p:cNvPr id="6" name="Marco QR"/>
          <p:cNvSpPr/>
          <p:nvPr/>
        </p:nvSpPr>
        <p:spPr>
          <a:xfrm>
            <a:off x="8183880" y="1417320"/>
            <a:ext cx="3291840" cy="3291840"/>
          </a:xfrm>
          <a:prstGeom prst="roundRect">
            <a:avLst>
              <a:gd name="adj" fmla="val 5556"/>
            </a:avLst>
          </a:prstGeom>
          <a:solidFill>
            <a:srgbClr val="FFFFFF"/>
          </a:solidFill>
          <a:ln w="50800">
            <a:solidFill>
              <a:srgbClr val="F5B82E"/>
            </a:solidFill>
            <a:prstDash val="solid"/>
          </a:ln>
        </p:spPr>
      </p:sp>
      <p:pic>
        <p:nvPicPr>
          <p:cNvPr id="7" name="QR" descr="QR del prototipo">    </p:cNvPr>
          <p:cNvPicPr>
            <a:picLocks noChangeAspect="1"/>
          </p:cNvPicPr>
          <p:nvPr/>
        </p:nvPicPr>
        <p:blipFill>
          <a:blip r:embed="rId2"/>
          <a:stretch>
            <a:fillRect/>
          </a:stretch>
        </p:blipFill>
        <p:spPr>
          <a:xfrm>
            <a:off x="8366760" y="1600200"/>
            <a:ext cx="2926080" cy="2926080"/>
          </a:xfrm>
          <a:prstGeom prst="rect">
            <a:avLst/>
          </a:prstGeom>
        </p:spPr>
      </p:pic>
      <p:sp>
        <p:nvSpPr>
          <p:cNvPr id="8" name="Concurso"/>
          <p:cNvSpPr txBox="1"/>
          <p:nvPr/>
        </p:nvSpPr>
        <p:spPr>
          <a:xfrm>
            <a:off x="640080" y="5989320"/>
            <a:ext cx="7315200" cy="365760"/>
          </a:xfrm>
          <a:prstGeom prst="rect">
            <a:avLst/>
          </a:prstGeom>
          <a:noFill/>
          <a:ln/>
        </p:spPr>
        <p:txBody>
          <a:bodyPr wrap="square" lIns="0" tIns="0" rIns="0" bIns="0" rtlCol="0" anchor="ctr"/>
          <a:lstStyle/>
          <a:p>
            <a:pPr indent="0" marL="0">
              <a:buNone/>
            </a:pPr>
            <a:r>
              <a:rPr lang="en-US" sz="1200" dirty="0">
                <a:solidFill>
                  <a:srgbClr val="C5D3CF"/>
                </a:solidFill>
              </a:rPr>
              <a:t>Innovathon Ulima x Tether 2026 · Reto del Ministerio de Trabajo y Promoción del Empleo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ANEXO · CÓMO DECIDE</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Cada recomendación </a:t>
            </a:r>
            <a:pPr algn="l" indent="0" marL="0">
              <a:buNone/>
            </a:pPr>
            <a:r>
              <a:rPr lang="en-US" sz="3400" b="1" dirty="0">
                <a:solidFill>
                  <a:srgbClr val="5FD3A9"/>
                </a:solidFill>
              </a:rPr>
              <a:t>se puede explicar</a:t>
            </a:r>
            <a:endParaRPr lang="en-US" sz="3400" dirty="0"/>
          </a:p>
        </p:txBody>
      </p:sp>
      <p:sp>
        <p:nvSpPr>
          <p:cNvPr id="4" name="Fórmula"/>
          <p:cNvSpPr/>
          <p:nvPr/>
        </p:nvSpPr>
        <p:spPr>
          <a:xfrm>
            <a:off x="548640" y="1965960"/>
            <a:ext cx="11064240" cy="822960"/>
          </a:xfrm>
          <a:prstGeom prst="roundRect">
            <a:avLst>
              <a:gd name="adj" fmla="val 16667"/>
            </a:avLst>
          </a:prstGeom>
          <a:solidFill>
            <a:srgbClr val="0E1A17"/>
          </a:solidFill>
          <a:ln w="12700">
            <a:solidFill>
              <a:srgbClr val="2C3D38"/>
            </a:solidFill>
            <a:prstDash val="solid"/>
          </a:ln>
        </p:spPr>
      </p:sp>
      <p:sp>
        <p:nvSpPr>
          <p:cNvPr id="5" name="Fórmula texto"/>
          <p:cNvSpPr txBox="1"/>
          <p:nvPr/>
        </p:nvSpPr>
        <p:spPr>
          <a:xfrm>
            <a:off x="731520" y="2011680"/>
            <a:ext cx="10698480" cy="731520"/>
          </a:xfrm>
          <a:prstGeom prst="rect">
            <a:avLst/>
          </a:prstGeom>
          <a:noFill/>
          <a:ln/>
        </p:spPr>
        <p:txBody>
          <a:bodyPr wrap="square" lIns="0" tIns="0" rIns="0" bIns="0" rtlCol="0" anchor="ctr"/>
          <a:lstStyle/>
          <a:p>
            <a:pPr algn="ctr" indent="0" marL="0">
              <a:buNone/>
            </a:pPr>
            <a:r>
              <a:rPr lang="en-US" sz="2200" b="1" dirty="0">
                <a:solidFill>
                  <a:srgbClr val="F5B82E"/>
                </a:solidFill>
              </a:rPr>
              <a:t>Cobertura = peso de lo que ya tiene ÷ peso de todo lo que pide el trabajo</a:t>
            </a:r>
            <a:endParaRPr lang="en-US" sz="2200" dirty="0"/>
          </a:p>
        </p:txBody>
      </p:sp>
      <p:sp>
        <p:nvSpPr>
          <p:cNvPr id="6" name="Peso Logro"/>
          <p:cNvSpPr txBox="1"/>
          <p:nvPr/>
        </p:nvSpPr>
        <p:spPr>
          <a:xfrm>
            <a:off x="685800" y="3154680"/>
            <a:ext cx="1325880" cy="1152144"/>
          </a:xfrm>
          <a:prstGeom prst="hexagon">
            <a:avLst/>
          </a:prstGeom>
          <a:solidFill>
            <a:srgbClr val="1A7A5C"/>
          </a:solidFill>
          <a:ln/>
        </p:spPr>
        <p:txBody>
          <a:bodyPr wrap="square" lIns="0" tIns="0" rIns="0" bIns="0" rtlCol="0" anchor="ctr"/>
          <a:lstStyle/>
          <a:p>
            <a:pPr algn="ctr" indent="0" marL="0">
              <a:buNone/>
            </a:pPr>
            <a:r>
              <a:rPr lang="en-US" sz="2600" b="1" dirty="0">
                <a:solidFill>
                  <a:srgbClr val="FFFFFF"/>
                </a:solidFill>
              </a:rPr>
              <a:t>3</a:t>
            </a:r>
            <a:endParaRPr lang="en-US" sz="2600" dirty="0"/>
          </a:p>
          <a:p>
            <a:pPr algn="ctr" indent="0" marL="0">
              <a:buNone/>
            </a:pPr>
            <a:r>
              <a:rPr lang="en-US" sz="1100" b="1" dirty="0">
                <a:solidFill>
                  <a:srgbClr val="FFFFFF"/>
                </a:solidFill>
              </a:rPr>
              <a:t>Logro</a:t>
            </a:r>
            <a:endParaRPr lang="en-US" sz="2600" dirty="0"/>
          </a:p>
        </p:txBody>
      </p:sp>
      <p:sp>
        <p:nvSpPr>
          <p:cNvPr id="7" name="Peso Habilidad"/>
          <p:cNvSpPr txBox="1"/>
          <p:nvPr/>
        </p:nvSpPr>
        <p:spPr>
          <a:xfrm>
            <a:off x="2148840" y="3154680"/>
            <a:ext cx="1325880" cy="1152144"/>
          </a:xfrm>
          <a:prstGeom prst="hexagon">
            <a:avLst/>
          </a:prstGeom>
          <a:solidFill>
            <a:srgbClr val="F5B82E"/>
          </a:solidFill>
          <a:ln/>
        </p:spPr>
        <p:txBody>
          <a:bodyPr wrap="square" lIns="0" tIns="0" rIns="0" bIns="0" rtlCol="0" anchor="ctr"/>
          <a:lstStyle/>
          <a:p>
            <a:pPr algn="ctr" indent="0" marL="0">
              <a:buNone/>
            </a:pPr>
            <a:r>
              <a:rPr lang="en-US" sz="2600" b="1" dirty="0">
                <a:solidFill>
                  <a:srgbClr val="0E1A17"/>
                </a:solidFill>
              </a:rPr>
              <a:t>2</a:t>
            </a:r>
            <a:endParaRPr lang="en-US" sz="2600" dirty="0"/>
          </a:p>
          <a:p>
            <a:pPr algn="ctr" indent="0" marL="0">
              <a:buNone/>
            </a:pPr>
            <a:r>
              <a:rPr lang="en-US" sz="1100" b="1" dirty="0">
                <a:solidFill>
                  <a:srgbClr val="0E1A17"/>
                </a:solidFill>
              </a:rPr>
              <a:t>Habilidad</a:t>
            </a:r>
            <a:endParaRPr lang="en-US" sz="2600" dirty="0"/>
          </a:p>
        </p:txBody>
      </p:sp>
      <p:sp>
        <p:nvSpPr>
          <p:cNvPr id="8" name="Peso Conocimiento"/>
          <p:cNvSpPr txBox="1"/>
          <p:nvPr/>
        </p:nvSpPr>
        <p:spPr>
          <a:xfrm>
            <a:off x="3611880" y="3154680"/>
            <a:ext cx="1325880" cy="1152144"/>
          </a:xfrm>
          <a:prstGeom prst="hexagon">
            <a:avLst/>
          </a:prstGeom>
          <a:solidFill>
            <a:srgbClr val="CDEBDF"/>
          </a:solidFill>
          <a:ln/>
        </p:spPr>
        <p:txBody>
          <a:bodyPr wrap="square" lIns="0" tIns="0" rIns="0" bIns="0" rtlCol="0" anchor="ctr"/>
          <a:lstStyle/>
          <a:p>
            <a:pPr algn="ctr" indent="0" marL="0">
              <a:buNone/>
            </a:pPr>
            <a:r>
              <a:rPr lang="en-US" sz="2600" b="1" dirty="0">
                <a:solidFill>
                  <a:srgbClr val="0E1A17"/>
                </a:solidFill>
              </a:rPr>
              <a:t>2</a:t>
            </a:r>
            <a:endParaRPr lang="en-US" sz="2600" dirty="0"/>
          </a:p>
          <a:p>
            <a:pPr algn="ctr" indent="0" marL="0">
              <a:buNone/>
            </a:pPr>
            <a:r>
              <a:rPr lang="en-US" sz="900" b="1" dirty="0">
                <a:solidFill>
                  <a:srgbClr val="0E1A17"/>
                </a:solidFill>
              </a:rPr>
              <a:t>Conocimiento</a:t>
            </a:r>
            <a:endParaRPr lang="en-US" sz="2600" dirty="0"/>
          </a:p>
        </p:txBody>
      </p:sp>
      <p:sp>
        <p:nvSpPr>
          <p:cNvPr id="9" name="Peso Cualidad"/>
          <p:cNvSpPr txBox="1"/>
          <p:nvPr/>
        </p:nvSpPr>
        <p:spPr>
          <a:xfrm>
            <a:off x="5074920" y="3154680"/>
            <a:ext cx="1325880" cy="1152144"/>
          </a:xfrm>
          <a:prstGeom prst="hexagon">
            <a:avLst/>
          </a:prstGeom>
          <a:solidFill>
            <a:srgbClr val="E3E9E7"/>
          </a:solidFill>
          <a:ln/>
        </p:spPr>
        <p:txBody>
          <a:bodyPr wrap="square" lIns="0" tIns="0" rIns="0" bIns="0" rtlCol="0" anchor="ctr"/>
          <a:lstStyle/>
          <a:p>
            <a:pPr algn="ctr" indent="0" marL="0">
              <a:buNone/>
            </a:pPr>
            <a:r>
              <a:rPr lang="en-US" sz="2600" b="1" dirty="0">
                <a:solidFill>
                  <a:srgbClr val="0E1A17"/>
                </a:solidFill>
              </a:rPr>
              <a:t>1</a:t>
            </a:r>
            <a:endParaRPr lang="en-US" sz="2600" dirty="0"/>
          </a:p>
          <a:p>
            <a:pPr algn="ctr" indent="0" marL="0">
              <a:buNone/>
            </a:pPr>
            <a:r>
              <a:rPr lang="en-US" sz="1100" b="1" dirty="0">
                <a:solidFill>
                  <a:srgbClr val="0E1A17"/>
                </a:solidFill>
              </a:rPr>
              <a:t>Cualidad</a:t>
            </a:r>
            <a:endParaRPr lang="en-US" sz="2600" dirty="0"/>
          </a:p>
        </p:txBody>
      </p:sp>
      <p:sp>
        <p:nvSpPr>
          <p:cNvPr id="10" name="Text 8"/>
          <p:cNvSpPr txBox="1"/>
          <p:nvPr/>
        </p:nvSpPr>
        <p:spPr>
          <a:xfrm>
            <a:off x="685800" y="4480560"/>
            <a:ext cx="5669280" cy="640080"/>
          </a:xfrm>
          <a:prstGeom prst="rect">
            <a:avLst/>
          </a:prstGeom>
          <a:noFill/>
          <a:ln/>
        </p:spPr>
        <p:txBody>
          <a:bodyPr wrap="square" lIns="0" tIns="0" rIns="0" bIns="0" rtlCol="0" anchor="t"/>
          <a:lstStyle/>
          <a:p>
            <a:pPr indent="0" marL="0">
              <a:buNone/>
            </a:pPr>
            <a:r>
              <a:rPr lang="en-US" sz="1400" dirty="0">
                <a:solidFill>
                  <a:srgbClr val="C5D3CF"/>
                </a:solidFill>
              </a:rPr>
              <a:t>Pesos por tipo de habilidad: lo específico y demostrable pesa más que lo genérico.</a:t>
            </a:r>
            <a:endParaRPr lang="en-US" sz="1400" dirty="0"/>
          </a:p>
        </p:txBody>
      </p:sp>
      <p:sp>
        <p:nvSpPr>
          <p:cNvPr id="11" name="Reglas del primer paso"/>
          <p:cNvSpPr/>
          <p:nvPr/>
        </p:nvSpPr>
        <p:spPr>
          <a:xfrm>
            <a:off x="6675120" y="3063240"/>
            <a:ext cx="4937760" cy="2926080"/>
          </a:xfrm>
          <a:prstGeom prst="roundRect">
            <a:avLst>
              <a:gd name="adj" fmla="val 4688"/>
            </a:avLst>
          </a:prstGeom>
          <a:solidFill>
            <a:srgbClr val="1C2C27"/>
          </a:solidFill>
          <a:ln w="12700">
            <a:solidFill>
              <a:srgbClr val="2C3D38"/>
            </a:solidFill>
            <a:prstDash val="solid"/>
          </a:ln>
        </p:spPr>
      </p:sp>
      <p:sp>
        <p:nvSpPr>
          <p:cNvPr id="12" name="Text 10"/>
          <p:cNvSpPr txBox="1"/>
          <p:nvPr/>
        </p:nvSpPr>
        <p:spPr>
          <a:xfrm>
            <a:off x="6903720" y="3200400"/>
            <a:ext cx="4572000" cy="365760"/>
          </a:xfrm>
          <a:prstGeom prst="rect">
            <a:avLst/>
          </a:prstGeom>
          <a:noFill/>
          <a:ln/>
        </p:spPr>
        <p:txBody>
          <a:bodyPr wrap="square" lIns="0" tIns="0" rIns="0" bIns="0" rtlCol="0" anchor="t"/>
          <a:lstStyle/>
          <a:p>
            <a:pPr indent="0" marL="0">
              <a:buNone/>
            </a:pPr>
            <a:r>
              <a:rPr lang="en-US" sz="1600" b="1" dirty="0">
                <a:solidFill>
                  <a:srgbClr val="FFFFFF"/>
                </a:solidFill>
              </a:rPr>
              <a:t>Primer paso (una sola recomendación)</a:t>
            </a:r>
            <a:endParaRPr lang="en-US" sz="1600" dirty="0"/>
          </a:p>
        </p:txBody>
      </p:sp>
      <p:sp>
        <p:nvSpPr>
          <p:cNvPr id="13" name="Text 11"/>
          <p:cNvSpPr txBox="1"/>
          <p:nvPr/>
        </p:nvSpPr>
        <p:spPr>
          <a:xfrm>
            <a:off x="6903720" y="3703320"/>
            <a:ext cx="1188720" cy="411480"/>
          </a:xfrm>
          <a:prstGeom prst="rect">
            <a:avLst/>
          </a:prstGeom>
          <a:noFill/>
          <a:ln/>
        </p:spPr>
        <p:txBody>
          <a:bodyPr wrap="square" lIns="0" tIns="0" rIns="0" bIns="0" rtlCol="0" anchor="t"/>
          <a:lstStyle/>
          <a:p>
            <a:pPr indent="0" marL="0">
              <a:buNone/>
            </a:pPr>
            <a:r>
              <a:rPr lang="en-US" sz="1500" b="1" dirty="0">
                <a:solidFill>
                  <a:srgbClr val="F5B82E"/>
                </a:solidFill>
              </a:rPr>
              <a:t>≥ 85 %</a:t>
            </a:r>
            <a:endParaRPr lang="en-US" sz="1500" dirty="0"/>
          </a:p>
        </p:txBody>
      </p:sp>
      <p:sp>
        <p:nvSpPr>
          <p:cNvPr id="14" name="Text 12"/>
          <p:cNvSpPr txBox="1"/>
          <p:nvPr/>
        </p:nvSpPr>
        <p:spPr>
          <a:xfrm>
            <a:off x="8138160" y="3703320"/>
            <a:ext cx="3291840" cy="411480"/>
          </a:xfrm>
          <a:prstGeom prst="rect">
            <a:avLst/>
          </a:prstGeom>
          <a:noFill/>
          <a:ln/>
        </p:spPr>
        <p:txBody>
          <a:bodyPr wrap="square" lIns="0" tIns="0" rIns="0" bIns="0" rtlCol="0" anchor="t"/>
          <a:lstStyle/>
          <a:p>
            <a:pPr indent="0" marL="0">
              <a:buNone/>
            </a:pPr>
            <a:r>
              <a:rPr lang="en-US" sz="1500" dirty="0">
                <a:solidFill>
                  <a:srgbClr val="C5D3CF"/>
                </a:solidFill>
              </a:rPr>
              <a:t>Postula en Empleos Perú</a:t>
            </a:r>
            <a:endParaRPr lang="en-US" sz="1500" dirty="0"/>
          </a:p>
        </p:txBody>
      </p:sp>
      <p:sp>
        <p:nvSpPr>
          <p:cNvPr id="15" name="Text 13"/>
          <p:cNvSpPr txBox="1"/>
          <p:nvPr/>
        </p:nvSpPr>
        <p:spPr>
          <a:xfrm>
            <a:off x="6903720" y="4206240"/>
            <a:ext cx="1188720" cy="411480"/>
          </a:xfrm>
          <a:prstGeom prst="rect">
            <a:avLst/>
          </a:prstGeom>
          <a:noFill/>
          <a:ln/>
        </p:spPr>
        <p:txBody>
          <a:bodyPr wrap="square" lIns="0" tIns="0" rIns="0" bIns="0" rtlCol="0" anchor="t"/>
          <a:lstStyle/>
          <a:p>
            <a:pPr indent="0" marL="0">
              <a:buNone/>
            </a:pPr>
            <a:r>
              <a:rPr lang="en-US" sz="1500" b="1" dirty="0">
                <a:solidFill>
                  <a:srgbClr val="F5B82E"/>
                </a:solidFill>
              </a:rPr>
              <a:t>50–85 %</a:t>
            </a:r>
            <a:endParaRPr lang="en-US" sz="1500" dirty="0"/>
          </a:p>
        </p:txBody>
      </p:sp>
      <p:sp>
        <p:nvSpPr>
          <p:cNvPr id="16" name="Text 14"/>
          <p:cNvSpPr txBox="1"/>
          <p:nvPr/>
        </p:nvSpPr>
        <p:spPr>
          <a:xfrm>
            <a:off x="8138160" y="4206240"/>
            <a:ext cx="3291840" cy="411480"/>
          </a:xfrm>
          <a:prstGeom prst="rect">
            <a:avLst/>
          </a:prstGeom>
          <a:noFill/>
          <a:ln/>
        </p:spPr>
        <p:txBody>
          <a:bodyPr wrap="square" lIns="0" tIns="0" rIns="0" bIns="0" rtlCol="0" anchor="t"/>
          <a:lstStyle/>
          <a:p>
            <a:pPr indent="0" marL="0">
              <a:buNone/>
            </a:pPr>
            <a:r>
              <a:rPr lang="en-US" sz="1500" dirty="0">
                <a:solidFill>
                  <a:srgbClr val="C5D3CF"/>
                </a:solidFill>
              </a:rPr>
              <a:t>Curso gratis en Capacíta-T</a:t>
            </a:r>
            <a:endParaRPr lang="en-US" sz="1500" dirty="0"/>
          </a:p>
        </p:txBody>
      </p:sp>
      <p:sp>
        <p:nvSpPr>
          <p:cNvPr id="17" name="Text 15"/>
          <p:cNvSpPr txBox="1"/>
          <p:nvPr/>
        </p:nvSpPr>
        <p:spPr>
          <a:xfrm>
            <a:off x="6903720" y="4709160"/>
            <a:ext cx="1188720" cy="411480"/>
          </a:xfrm>
          <a:prstGeom prst="rect">
            <a:avLst/>
          </a:prstGeom>
          <a:noFill/>
          <a:ln/>
        </p:spPr>
        <p:txBody>
          <a:bodyPr wrap="square" lIns="0" tIns="0" rIns="0" bIns="0" rtlCol="0" anchor="t"/>
          <a:lstStyle/>
          <a:p>
            <a:pPr indent="0" marL="0">
              <a:buNone/>
            </a:pPr>
            <a:r>
              <a:rPr lang="en-US" sz="1500" b="1" dirty="0">
                <a:solidFill>
                  <a:srgbClr val="F5B82E"/>
                </a:solidFill>
              </a:rPr>
              <a:t>&lt; 50 %</a:t>
            </a:r>
            <a:endParaRPr lang="en-US" sz="1500" dirty="0"/>
          </a:p>
        </p:txBody>
      </p:sp>
      <p:sp>
        <p:nvSpPr>
          <p:cNvPr id="18" name="Text 16"/>
          <p:cNvSpPr txBox="1"/>
          <p:nvPr/>
        </p:nvSpPr>
        <p:spPr>
          <a:xfrm>
            <a:off x="8138160" y="4709160"/>
            <a:ext cx="3291840" cy="411480"/>
          </a:xfrm>
          <a:prstGeom prst="rect">
            <a:avLst/>
          </a:prstGeom>
          <a:noFill/>
          <a:ln/>
        </p:spPr>
        <p:txBody>
          <a:bodyPr wrap="square" lIns="0" tIns="0" rIns="0" bIns="0" rtlCol="0" anchor="t"/>
          <a:lstStyle/>
          <a:p>
            <a:pPr indent="0" marL="0">
              <a:buNone/>
            </a:pPr>
            <a:r>
              <a:rPr lang="en-US" sz="1500" dirty="0">
                <a:solidFill>
                  <a:srgbClr val="C5D3CF"/>
                </a:solidFill>
              </a:rPr>
              <a:t>Asesor en un Centro de Empleo</a:t>
            </a:r>
            <a:endParaRPr lang="en-US" sz="1500" dirty="0"/>
          </a:p>
        </p:txBody>
      </p:sp>
      <p:sp>
        <p:nvSpPr>
          <p:cNvPr id="19" name="Text 17"/>
          <p:cNvSpPr txBox="1"/>
          <p:nvPr/>
        </p:nvSpPr>
        <p:spPr>
          <a:xfrm>
            <a:off x="6903720" y="5212080"/>
            <a:ext cx="4572000" cy="685800"/>
          </a:xfrm>
          <a:prstGeom prst="rect">
            <a:avLst/>
          </a:prstGeom>
          <a:noFill/>
          <a:ln/>
        </p:spPr>
        <p:txBody>
          <a:bodyPr wrap="square" lIns="0" tIns="0" rIns="0" bIns="0" rtlCol="0" anchor="t"/>
          <a:lstStyle/>
          <a:p>
            <a:pPr indent="0" marL="0">
              <a:buNone/>
            </a:pPr>
            <a:r>
              <a:rPr lang="en-US" sz="1200" i="1" dirty="0">
                <a:solidFill>
                  <a:srgbClr val="5FD3A9"/>
                </a:solidFill>
              </a:rPr>
              <a:t>Rosa: 6 de 7 para vendedora (86 %). Como está en planilla en riesgo, primero el curso de lo que le falta: Ventas.</a:t>
            </a:r>
            <a:endParaRPr lang="en-US" sz="1200" dirty="0"/>
          </a:p>
        </p:txBody>
      </p:sp>
      <p:sp>
        <p:nvSpPr>
          <p:cNvPr id="20" name="Text 18"/>
          <p:cNvSpPr txBox="1"/>
          <p:nvPr/>
        </p:nvSpPr>
        <p:spPr>
          <a:xfrm>
            <a:off x="685800" y="5166360"/>
            <a:ext cx="5669280" cy="822960"/>
          </a:xfrm>
          <a:prstGeom prst="rect">
            <a:avLst/>
          </a:prstGeom>
          <a:noFill/>
          <a:ln/>
        </p:spPr>
        <p:txBody>
          <a:bodyPr wrap="square" lIns="0" tIns="0" rIns="0" bIns="0" rtlCol="0" anchor="t"/>
          <a:lstStyle/>
          <a:p>
            <a:pPr indent="0" marL="0">
              <a:buNone/>
            </a:pPr>
            <a:r>
              <a:rPr lang="en-US" sz="1200" dirty="0">
                <a:solidFill>
                  <a:srgbClr val="C5D3CF"/>
                </a:solidFill>
              </a:rPr>
              <a:t>La IA solo propone habilidades que existen en el catálogo y con una frase que la persona realmente dijo. Si la IA falla, un motor de reglas responde igual. 15 pruebas automáticas verifican el motor.</a:t>
            </a:r>
            <a:endParaRPr lang="en-US" sz="12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ANEXO · TRANSICIONES</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Dos ocupaciones se relacionan por </a:t>
            </a:r>
            <a:pPr algn="l" indent="0" marL="0">
              <a:buNone/>
            </a:pPr>
            <a:r>
              <a:rPr lang="en-US" sz="3400" b="1" dirty="0">
                <a:solidFill>
                  <a:srgbClr val="5FD3A9"/>
                </a:solidFill>
              </a:rPr>
              <a:t>lo que comparten</a:t>
            </a:r>
            <a:endParaRPr lang="en-US" sz="3400" dirty="0"/>
          </a:p>
        </p:txBody>
      </p:sp>
      <p:graphicFrame>
        <p:nvGraphicFramePr>
          <p:cNvPr id="13" name="Tabla transiciones"/>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2377440"/>
                <a:gridCol w="1280160"/>
                <a:gridCol w="5029200"/>
              </a:tblGrid>
              <a:tr h="438912">
                <a:tc>
                  <a:txBody>
                    <a:bodyPr/>
                    <a:lstStyle/>
                    <a:p>
                      <a:pPr indent="0" marL="0">
                        <a:buNone/>
                      </a:pPr>
                      <a:r>
                        <a:rPr lang="en-US" sz="1300" b="1" dirty="0">
                          <a:solidFill>
                            <a:srgbClr val="0E1A17"/>
                          </a:solidFill>
                        </a:rPr>
                        <a:t>Oficio de hoy</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26A17B"/>
                    </a:solidFill>
                  </a:tcPr>
                </a:tc>
                <a:tc>
                  <a:txBody>
                    <a:bodyPr/>
                    <a:lstStyle/>
                    <a:p>
                      <a:pPr indent="0" marL="0">
                        <a:buNone/>
                      </a:pPr>
                      <a:r>
                        <a:rPr lang="en-US" sz="1300" b="1" dirty="0">
                          <a:solidFill>
                            <a:srgbClr val="0E1A17"/>
                          </a:solidFill>
                        </a:rPr>
                        <a:t>Podría pasar 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26A17B"/>
                    </a:solidFill>
                  </a:tcPr>
                </a:tc>
                <a:tc>
                  <a:txBody>
                    <a:bodyPr/>
                    <a:lstStyle/>
                    <a:p>
                      <a:pPr indent="0" marL="0">
                        <a:buNone/>
                      </a:pPr>
                      <a:r>
                        <a:rPr lang="en-US" sz="1300" b="1" dirty="0">
                          <a:solidFill>
                            <a:srgbClr val="0E1A17"/>
                          </a:solidFill>
                        </a:rPr>
                        <a:t>Proximidad</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26A17B"/>
                    </a:solidFill>
                  </a:tcPr>
                </a:tc>
                <a:tc>
                  <a:txBody>
                    <a:bodyPr/>
                    <a:lstStyle/>
                    <a:p>
                      <a:pPr indent="0" marL="0">
                        <a:buNone/>
                      </a:pPr>
                      <a:r>
                        <a:rPr lang="en-US" sz="1300" b="1" dirty="0">
                          <a:solidFill>
                            <a:srgbClr val="0E1A17"/>
                          </a:solidFill>
                        </a:rPr>
                        <a:t>Lo que comparten</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26A17B"/>
                    </a:solidFill>
                  </a:tcPr>
                </a:tc>
              </a:tr>
              <a:tr h="438912">
                <a:tc>
                  <a:txBody>
                    <a:bodyPr/>
                    <a:lstStyle/>
                    <a:p>
                      <a:pPr indent="0" marL="0">
                        <a:buNone/>
                      </a:pPr>
                      <a:r>
                        <a:rPr lang="en-US" sz="1300" dirty="0">
                          <a:solidFill>
                            <a:srgbClr val="FFFFFF"/>
                          </a:solidFill>
                        </a:rPr>
                        <a:t>Personal de limpieza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Conserje / mantenimiento</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58 %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Limpieza y desinfección, seguridad, honestidad, puntualidad, ambientes impecables</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r h="438912">
                <a:tc>
                  <a:txBody>
                    <a:bodyPr/>
                    <a:lstStyle/>
                    <a:p>
                      <a:pPr indent="0" marL="0">
                        <a:buNone/>
                      </a:pPr>
                      <a:r>
                        <a:rPr lang="en-US" sz="1300" dirty="0">
                          <a:solidFill>
                            <a:srgbClr val="FFFFFF"/>
                          </a:solidFill>
                        </a:rPr>
                        <a:t>Vendedor/a de tienda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Cajero/a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54 %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Atención al cliente, medios de pago, cobro en caja, paciencia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r h="438912">
                <a:tc>
                  <a:txBody>
                    <a:bodyPr/>
                    <a:lstStyle/>
                    <a:p>
                      <a:pPr indent="0" marL="0">
                        <a:buNone/>
                      </a:pPr>
                      <a:r>
                        <a:rPr lang="en-US" sz="1300" dirty="0">
                          <a:solidFill>
                            <a:srgbClr val="FFFFFF"/>
                          </a:solidFill>
                        </a:rPr>
                        <a:t>Cajero/a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Vendedor/a de tienda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50 %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Atención al cliente, medios de pago, cobro en caja, paciencia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r h="438912">
                <a:tc>
                  <a:txBody>
                    <a:bodyPr/>
                    <a:lstStyle/>
                    <a:p>
                      <a:pPr indent="0" marL="0">
                        <a:buNone/>
                      </a:pPr>
                      <a:r>
                        <a:rPr lang="en-US" sz="1300" dirty="0">
                          <a:solidFill>
                            <a:srgbClr val="FFFFFF"/>
                          </a:solidFill>
                        </a:rPr>
                        <a:t>Reponedor/a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Auxiliar de almacén</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46 %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Inventario, recepción de mercadería, orden, resistencia física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r h="438912">
                <a:tc>
                  <a:txBody>
                    <a:bodyPr/>
                    <a:lstStyle/>
                    <a:p>
                      <a:pPr indent="0" marL="0">
                        <a:buNone/>
                      </a:pPr>
                      <a:r>
                        <a:rPr lang="en-US" sz="1300" dirty="0">
                          <a:solidFill>
                            <a:srgbClr val="FFFFFF"/>
                          </a:solidFill>
                        </a:rPr>
                        <a:t>Auxiliar de almacén</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Reponedor/a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46 %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Inventario, recepción de mercadería, orden, resistencia física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r h="438912">
                <a:tc>
                  <a:txBody>
                    <a:bodyPr/>
                    <a:lstStyle/>
                    <a:p>
                      <a:pPr indent="0" marL="0">
                        <a:buNone/>
                      </a:pPr>
                      <a:r>
                        <a:rPr lang="en-US" sz="1300" dirty="0">
                          <a:solidFill>
                            <a:srgbClr val="FFFFFF"/>
                          </a:solidFill>
                        </a:rPr>
                        <a:t>Cajero/a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Auxiliar de almacén</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b="1" dirty="0">
                          <a:solidFill>
                            <a:srgbClr val="F5B82E"/>
                          </a:solidFill>
                        </a:rPr>
                        <a:t>0 %</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c>
                  <a:txBody>
                    <a:bodyPr/>
                    <a:lstStyle/>
                    <a:p>
                      <a:pPr indent="0" marL="0">
                        <a:buNone/>
                      </a:pPr>
                      <a:r>
                        <a:rPr lang="en-US" sz="1300" dirty="0">
                          <a:solidFill>
                            <a:srgbClr val="FFFFFF"/>
                          </a:solidFill>
                        </a:rPr>
                        <a:t>No comparten habilidades típicas: transición lejana</a:t>
                      </a:r>
                      <a:endParaRPr lang="en-US" sz="1300" dirty="0"/>
                    </a:p>
                  </a:txBody>
                  <a:tcPr marL="101600" marR="101600" marT="50800" marB="50800" anchor="ctr">
                    <a:lnL w="12700" cap="flat" cmpd="sng" algn="ctr">
                      <a:solidFill>
                        <a:srgbClr val="2C3D38"/>
                      </a:solidFill>
                      <a:prstDash val="solid"/>
                      <a:round/>
                      <a:headEnd type="none" w="med" len="med"/>
                      <a:tailEnd type="none" w="med" len="med"/>
                    </a:lnL>
                    <a:lnR w="12700" cap="flat" cmpd="sng" algn="ctr">
                      <a:solidFill>
                        <a:srgbClr val="2C3D38"/>
                      </a:solidFill>
                      <a:prstDash val="solid"/>
                      <a:round/>
                      <a:headEnd type="none" w="med" len="med"/>
                      <a:tailEnd type="none" w="med" len="med"/>
                    </a:lnR>
                    <a:lnT w="12700" cap="flat" cmpd="sng" algn="ctr">
                      <a:solidFill>
                        <a:srgbClr val="2C3D38"/>
                      </a:solidFill>
                      <a:prstDash val="solid"/>
                      <a:round/>
                      <a:headEnd type="none" w="med" len="med"/>
                      <a:tailEnd type="none" w="med" len="med"/>
                    </a:lnT>
                    <a:lnB w="12700" cap="flat" cmpd="sng" algn="ctr">
                      <a:solidFill>
                        <a:srgbClr val="2C3D38"/>
                      </a:solidFill>
                      <a:prstDash val="solid"/>
                      <a:round/>
                      <a:headEnd type="none" w="med" len="med"/>
                      <a:tailEnd type="none" w="med" len="med"/>
                    </a:lnB>
                    <a:solidFill>
                      <a:srgbClr val="1C2C27"/>
                    </a:solidFill>
                  </a:tcPr>
                </a:tc>
              </a:tr>
            </a:tbl>
          </a:graphicData>
        </a:graphic>
      </p:graphicFrame>
      <p:sp>
        <p:nvSpPr>
          <p:cNvPr id="5" name="Text 2"/>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1300" dirty="0">
                <a:solidFill>
                  <a:srgbClr val="C5D3CF"/>
                </a:solidFill>
              </a:rPr>
              <a:t>Proximidad(A → B) = peso de las habilidades de B que A ya tiene ÷ peso de todas las de B. No es simétrica. Matriz completa de 13 × 13 en el Excel de apoyo, con plantilla de validación para asesores. Datos ilustrativos, listos para reemplazar por los estándares del MTPE.</a:t>
            </a:r>
            <a:endParaRPr lang="en-US" sz="13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ción"/>
          <p:cNvSpPr txBox="1"/>
          <p:nvPr/>
        </p:nvSpPr>
        <p:spPr>
          <a:xfrm>
            <a:off x="548640" y="384048"/>
            <a:ext cx="2926080" cy="347472"/>
          </a:xfrm>
          <a:prstGeom prst="roundRect">
            <a:avLst>
              <a:gd name="adj" fmla="val 50000"/>
            </a:avLst>
          </a:prstGeom>
          <a:solidFill>
            <a:srgbClr val="26A17B"/>
          </a:solidFill>
          <a:ln/>
        </p:spPr>
        <p:txBody>
          <a:bodyPr wrap="square" lIns="0" tIns="0" rIns="0" bIns="0" rtlCol="0" anchor="ctr"/>
          <a:lstStyle/>
          <a:p>
            <a:pPr algn="ctr" indent="0" marL="0">
              <a:buNone/>
            </a:pPr>
            <a:r>
              <a:rPr lang="en-US" sz="1200" b="1" spc="200" kern="0" dirty="0">
                <a:solidFill>
                  <a:srgbClr val="0E1A17"/>
                </a:solidFill>
              </a:rPr>
              <a:t>ANEXO · PRIVACIDAD</a:t>
            </a:r>
            <a:endParaRPr lang="en-US" sz="1200" dirty="0"/>
          </a:p>
        </p:txBody>
      </p:sp>
      <p:sp>
        <p:nvSpPr>
          <p:cNvPr id="3" name="Text 0"/>
          <p:cNvSpPr/>
          <p:nvPr>
            <p:ph idx="101" type="title" hasCustomPrompt="1"/>
          </p:nvPr>
        </p:nvSpPr>
        <p:spPr>
          <a:xfrm>
            <a:off x="548640" y="868680"/>
            <a:ext cx="11064240" cy="868680"/>
          </a:xfrm>
          <a:prstGeom prst="rect">
            <a:avLst/>
          </a:prstGeom>
          <a:noFill/>
          <a:ln/>
        </p:spPr>
        <p:txBody>
          <a:bodyPr wrap="square" lIns="0" tIns="0" rIns="0" bIns="0" rtlCol="0" anchor="t"/>
          <a:lstStyle/>
          <a:p>
            <a:pPr algn="l" indent="0" marL="0">
              <a:buNone/>
            </a:pPr>
            <a:r>
              <a:rPr lang="en-US" sz="3400" b="1" dirty="0">
                <a:solidFill>
                  <a:srgbClr val="FFFFFF"/>
                </a:solidFill>
              </a:rPr>
              <a:t>Los datos </a:t>
            </a:r>
            <a:pPr algn="l" indent="0" marL="0">
              <a:buNone/>
            </a:pPr>
            <a:r>
              <a:rPr lang="en-US" sz="3400" b="1" dirty="0">
                <a:solidFill>
                  <a:srgbClr val="5FD3A9"/>
                </a:solidFill>
              </a:rPr>
              <a:t>no salen</a:t>
            </a:r>
            <a:pPr algn="l" indent="0" marL="0">
              <a:buNone/>
            </a:pPr>
            <a:r>
              <a:rPr lang="en-US" sz="3400" b="1" dirty="0">
                <a:solidFill>
                  <a:srgbClr val="FFFFFF"/>
                </a:solidFill>
              </a:rPr>
              <a:t> del ecosistema persona–MTPE</a:t>
            </a:r>
            <a:endParaRPr lang="en-US" sz="3400" dirty="0"/>
          </a:p>
        </p:txBody>
      </p:sp>
      <p:sp>
        <p:nvSpPr>
          <p:cNvPr id="4" name="IA local con QVAC"/>
          <p:cNvSpPr/>
          <p:nvPr/>
        </p:nvSpPr>
        <p:spPr>
          <a:xfrm>
            <a:off x="548640" y="2011680"/>
            <a:ext cx="5440680" cy="1645920"/>
          </a:xfrm>
          <a:prstGeom prst="roundRect">
            <a:avLst>
              <a:gd name="adj" fmla="val 8333"/>
            </a:avLst>
          </a:prstGeom>
          <a:solidFill>
            <a:srgbClr val="1C2C27"/>
          </a:solidFill>
          <a:ln w="12700">
            <a:solidFill>
              <a:srgbClr val="2C3D38"/>
            </a:solidFill>
            <a:prstDash val="solid"/>
          </a:ln>
        </p:spPr>
      </p:sp>
      <p:sp>
        <p:nvSpPr>
          <p:cNvPr id="5" name="Hexágono 1"/>
          <p:cNvSpPr txBox="1"/>
          <p:nvPr/>
        </p:nvSpPr>
        <p:spPr>
          <a:xfrm>
            <a:off x="822960" y="2395728"/>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1</a:t>
            </a:r>
            <a:endParaRPr lang="en-US" sz="2000" dirty="0"/>
          </a:p>
        </p:txBody>
      </p:sp>
      <p:sp>
        <p:nvSpPr>
          <p:cNvPr id="6" name="Text 4"/>
          <p:cNvSpPr txBox="1"/>
          <p:nvPr/>
        </p:nvSpPr>
        <p:spPr>
          <a:xfrm>
            <a:off x="1920240" y="2286000"/>
            <a:ext cx="3840480" cy="411480"/>
          </a:xfrm>
          <a:prstGeom prst="rect">
            <a:avLst/>
          </a:prstGeom>
          <a:noFill/>
          <a:ln/>
        </p:spPr>
        <p:txBody>
          <a:bodyPr wrap="square" lIns="0" tIns="0" rIns="0" bIns="0" rtlCol="0" anchor="t"/>
          <a:lstStyle/>
          <a:p>
            <a:pPr indent="0" marL="0">
              <a:buNone/>
            </a:pPr>
            <a:r>
              <a:rPr lang="en-US" sz="1800" b="1" dirty="0">
                <a:solidFill>
                  <a:srgbClr val="FFFFFF"/>
                </a:solidFill>
              </a:rPr>
              <a:t>IA local con QVAC</a:t>
            </a:r>
            <a:endParaRPr lang="en-US" sz="1800" dirty="0"/>
          </a:p>
        </p:txBody>
      </p:sp>
      <p:sp>
        <p:nvSpPr>
          <p:cNvPr id="7" name="Text 5"/>
          <p:cNvSpPr txBox="1"/>
          <p:nvPr/>
        </p:nvSpPr>
        <p:spPr>
          <a:xfrm>
            <a:off x="1920240" y="2743200"/>
            <a:ext cx="3840480" cy="777240"/>
          </a:xfrm>
          <a:prstGeom prst="rect">
            <a:avLst/>
          </a:prstGeom>
          <a:noFill/>
          <a:ln/>
        </p:spPr>
        <p:txBody>
          <a:bodyPr wrap="square" lIns="0" tIns="0" rIns="0" bIns="0" rtlCol="0" anchor="t"/>
          <a:lstStyle/>
          <a:p>
            <a:pPr indent="0" marL="0">
              <a:buNone/>
            </a:pPr>
            <a:r>
              <a:rPr lang="en-US" sz="1400" dirty="0">
                <a:solidFill>
                  <a:srgbClr val="C5D3CF"/>
                </a:solidFill>
              </a:rPr>
              <a:t>El modelo corre en un servidor propio, no en IAs de terceros.</a:t>
            </a:r>
            <a:endParaRPr lang="en-US" sz="1400" dirty="0"/>
          </a:p>
        </p:txBody>
      </p:sp>
      <p:sp>
        <p:nvSpPr>
          <p:cNvPr id="8" name="Sin base de datos de personas"/>
          <p:cNvSpPr/>
          <p:nvPr/>
        </p:nvSpPr>
        <p:spPr>
          <a:xfrm>
            <a:off x="6172200" y="2011680"/>
            <a:ext cx="5440680" cy="1645920"/>
          </a:xfrm>
          <a:prstGeom prst="roundRect">
            <a:avLst>
              <a:gd name="adj" fmla="val 8333"/>
            </a:avLst>
          </a:prstGeom>
          <a:solidFill>
            <a:srgbClr val="1C2C27"/>
          </a:solidFill>
          <a:ln w="12700">
            <a:solidFill>
              <a:srgbClr val="2C3D38"/>
            </a:solidFill>
            <a:prstDash val="solid"/>
          </a:ln>
        </p:spPr>
      </p:sp>
      <p:sp>
        <p:nvSpPr>
          <p:cNvPr id="9" name="Hexágono 2"/>
          <p:cNvSpPr txBox="1"/>
          <p:nvPr/>
        </p:nvSpPr>
        <p:spPr>
          <a:xfrm>
            <a:off x="6446520" y="2395728"/>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2</a:t>
            </a:r>
            <a:endParaRPr lang="en-US" sz="2000" dirty="0"/>
          </a:p>
        </p:txBody>
      </p:sp>
      <p:sp>
        <p:nvSpPr>
          <p:cNvPr id="10" name="Text 8"/>
          <p:cNvSpPr txBox="1"/>
          <p:nvPr/>
        </p:nvSpPr>
        <p:spPr>
          <a:xfrm>
            <a:off x="7543800" y="2286000"/>
            <a:ext cx="3840480" cy="411480"/>
          </a:xfrm>
          <a:prstGeom prst="rect">
            <a:avLst/>
          </a:prstGeom>
          <a:noFill/>
          <a:ln/>
        </p:spPr>
        <p:txBody>
          <a:bodyPr wrap="square" lIns="0" tIns="0" rIns="0" bIns="0" rtlCol="0" anchor="t"/>
          <a:lstStyle/>
          <a:p>
            <a:pPr indent="0" marL="0">
              <a:buNone/>
            </a:pPr>
            <a:r>
              <a:rPr lang="en-US" sz="1800" b="1" dirty="0">
                <a:solidFill>
                  <a:srgbClr val="FFFFFF"/>
                </a:solidFill>
              </a:rPr>
              <a:t>Sin base de datos de personas</a:t>
            </a:r>
            <a:endParaRPr lang="en-US" sz="1800" dirty="0"/>
          </a:p>
        </p:txBody>
      </p:sp>
      <p:sp>
        <p:nvSpPr>
          <p:cNvPr id="11" name="Text 9"/>
          <p:cNvSpPr txBox="1"/>
          <p:nvPr/>
        </p:nvSpPr>
        <p:spPr>
          <a:xfrm>
            <a:off x="7543800" y="2743200"/>
            <a:ext cx="3840480" cy="777240"/>
          </a:xfrm>
          <a:prstGeom prst="rect">
            <a:avLst/>
          </a:prstGeom>
          <a:noFill/>
          <a:ln/>
        </p:spPr>
        <p:txBody>
          <a:bodyPr wrap="square" lIns="0" tIns="0" rIns="0" bIns="0" rtlCol="0" anchor="t"/>
          <a:lstStyle/>
          <a:p>
            <a:pPr indent="0" marL="0">
              <a:buNone/>
            </a:pPr>
            <a:r>
              <a:rPr lang="en-US" sz="1400" dirty="0">
                <a:solidFill>
                  <a:srgbClr val="C5D3CF"/>
                </a:solidFill>
              </a:rPr>
              <a:t>Lo que cuenta vive en su navegador. Solo se guarda si ella lo pide.</a:t>
            </a:r>
            <a:endParaRPr lang="en-US" sz="1400" dirty="0"/>
          </a:p>
        </p:txBody>
      </p:sp>
      <p:sp>
        <p:nvSpPr>
          <p:cNvPr id="12" name="El panal viaja en el enlace"/>
          <p:cNvSpPr/>
          <p:nvPr/>
        </p:nvSpPr>
        <p:spPr>
          <a:xfrm>
            <a:off x="548640" y="3886200"/>
            <a:ext cx="5440680" cy="1645920"/>
          </a:xfrm>
          <a:prstGeom prst="roundRect">
            <a:avLst>
              <a:gd name="adj" fmla="val 8333"/>
            </a:avLst>
          </a:prstGeom>
          <a:solidFill>
            <a:srgbClr val="1C2C27"/>
          </a:solidFill>
          <a:ln w="12700">
            <a:solidFill>
              <a:srgbClr val="2C3D38"/>
            </a:solidFill>
            <a:prstDash val="solid"/>
          </a:ln>
        </p:spPr>
      </p:sp>
      <p:sp>
        <p:nvSpPr>
          <p:cNvPr id="13" name="Hexágono 3"/>
          <p:cNvSpPr txBox="1"/>
          <p:nvPr/>
        </p:nvSpPr>
        <p:spPr>
          <a:xfrm>
            <a:off x="822960" y="4270248"/>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3</a:t>
            </a:r>
            <a:endParaRPr lang="en-US" sz="2000" dirty="0"/>
          </a:p>
        </p:txBody>
      </p:sp>
      <p:sp>
        <p:nvSpPr>
          <p:cNvPr id="14" name="Text 12"/>
          <p:cNvSpPr txBox="1"/>
          <p:nvPr/>
        </p:nvSpPr>
        <p:spPr>
          <a:xfrm>
            <a:off x="1920240" y="4160520"/>
            <a:ext cx="3840480" cy="411480"/>
          </a:xfrm>
          <a:prstGeom prst="rect">
            <a:avLst/>
          </a:prstGeom>
          <a:noFill/>
          <a:ln/>
        </p:spPr>
        <p:txBody>
          <a:bodyPr wrap="square" lIns="0" tIns="0" rIns="0" bIns="0" rtlCol="0" anchor="t"/>
          <a:lstStyle/>
          <a:p>
            <a:pPr indent="0" marL="0">
              <a:buNone/>
            </a:pPr>
            <a:r>
              <a:rPr lang="en-US" sz="1800" b="1" dirty="0">
                <a:solidFill>
                  <a:srgbClr val="FFFFFF"/>
                </a:solidFill>
              </a:rPr>
              <a:t>El panal viaja en el enlace</a:t>
            </a:r>
            <a:endParaRPr lang="en-US" sz="1800" dirty="0"/>
          </a:p>
        </p:txBody>
      </p:sp>
      <p:sp>
        <p:nvSpPr>
          <p:cNvPr id="15" name="Text 13"/>
          <p:cNvSpPr txBox="1"/>
          <p:nvPr/>
        </p:nvSpPr>
        <p:spPr>
          <a:xfrm>
            <a:off x="1920240" y="4617720"/>
            <a:ext cx="3840480" cy="777240"/>
          </a:xfrm>
          <a:prstGeom prst="rect">
            <a:avLst/>
          </a:prstGeom>
          <a:noFill/>
          <a:ln/>
        </p:spPr>
        <p:txBody>
          <a:bodyPr wrap="square" lIns="0" tIns="0" rIns="0" bIns="0" rtlCol="0" anchor="t"/>
          <a:lstStyle/>
          <a:p>
            <a:pPr indent="0" marL="0">
              <a:buNone/>
            </a:pPr>
            <a:r>
              <a:rPr lang="en-US" sz="1400" dirty="0">
                <a:solidFill>
                  <a:srgbClr val="C5D3CF"/>
                </a:solidFill>
              </a:rPr>
              <a:t>El QR para el asesor lleva los datos dentro, sin servidor.</a:t>
            </a:r>
            <a:endParaRPr lang="en-US" sz="1400" dirty="0"/>
          </a:p>
        </p:txBody>
      </p:sp>
      <p:sp>
        <p:nvSpPr>
          <p:cNvPr id="16" name="Banco con permiso"/>
          <p:cNvSpPr/>
          <p:nvPr/>
        </p:nvSpPr>
        <p:spPr>
          <a:xfrm>
            <a:off x="6172200" y="3886200"/>
            <a:ext cx="5440680" cy="1645920"/>
          </a:xfrm>
          <a:prstGeom prst="roundRect">
            <a:avLst>
              <a:gd name="adj" fmla="val 8333"/>
            </a:avLst>
          </a:prstGeom>
          <a:solidFill>
            <a:srgbClr val="1C2C27"/>
          </a:solidFill>
          <a:ln w="12700">
            <a:solidFill>
              <a:srgbClr val="2C3D38"/>
            </a:solidFill>
            <a:prstDash val="solid"/>
          </a:ln>
        </p:spPr>
      </p:sp>
      <p:sp>
        <p:nvSpPr>
          <p:cNvPr id="17" name="Hexágono 4"/>
          <p:cNvSpPr txBox="1"/>
          <p:nvPr/>
        </p:nvSpPr>
        <p:spPr>
          <a:xfrm>
            <a:off x="6446520" y="4270248"/>
            <a:ext cx="868680" cy="752277"/>
          </a:xfrm>
          <a:prstGeom prst="hexagon">
            <a:avLst/>
          </a:prstGeom>
          <a:solidFill>
            <a:srgbClr val="26A17B"/>
          </a:solidFill>
          <a:ln/>
        </p:spPr>
        <p:txBody>
          <a:bodyPr wrap="square" lIns="0" tIns="0" rIns="0" bIns="0" rtlCol="0" anchor="ctr"/>
          <a:lstStyle/>
          <a:p>
            <a:pPr algn="ctr" indent="0" marL="0">
              <a:buNone/>
            </a:pPr>
            <a:r>
              <a:rPr lang="en-US" sz="2000" b="1" dirty="0">
                <a:solidFill>
                  <a:srgbClr val="0E1A17"/>
                </a:solidFill>
              </a:rPr>
              <a:t>4</a:t>
            </a:r>
            <a:endParaRPr lang="en-US" sz="2000" dirty="0"/>
          </a:p>
        </p:txBody>
      </p:sp>
      <p:sp>
        <p:nvSpPr>
          <p:cNvPr id="18" name="Text 16"/>
          <p:cNvSpPr txBox="1"/>
          <p:nvPr/>
        </p:nvSpPr>
        <p:spPr>
          <a:xfrm>
            <a:off x="7543800" y="4160520"/>
            <a:ext cx="3840480" cy="411480"/>
          </a:xfrm>
          <a:prstGeom prst="rect">
            <a:avLst/>
          </a:prstGeom>
          <a:noFill/>
          <a:ln/>
        </p:spPr>
        <p:txBody>
          <a:bodyPr wrap="square" lIns="0" tIns="0" rIns="0" bIns="0" rtlCol="0" anchor="t"/>
          <a:lstStyle/>
          <a:p>
            <a:pPr indent="0" marL="0">
              <a:buNone/>
            </a:pPr>
            <a:r>
              <a:rPr lang="en-US" sz="1800" b="1" dirty="0">
                <a:solidFill>
                  <a:srgbClr val="FFFFFF"/>
                </a:solidFill>
              </a:rPr>
              <a:t>Banco con permiso</a:t>
            </a:r>
            <a:endParaRPr lang="en-US" sz="1800" dirty="0"/>
          </a:p>
        </p:txBody>
      </p:sp>
      <p:sp>
        <p:nvSpPr>
          <p:cNvPr id="19" name="Text 17"/>
          <p:cNvSpPr txBox="1"/>
          <p:nvPr/>
        </p:nvSpPr>
        <p:spPr>
          <a:xfrm>
            <a:off x="7543800" y="4617720"/>
            <a:ext cx="3840480" cy="777240"/>
          </a:xfrm>
          <a:prstGeom prst="rect">
            <a:avLst/>
          </a:prstGeom>
          <a:noFill/>
          <a:ln/>
        </p:spPr>
        <p:txBody>
          <a:bodyPr wrap="square" lIns="0" tIns="0" rIns="0" bIns="0" rtlCol="0" anchor="t"/>
          <a:lstStyle/>
          <a:p>
            <a:pPr indent="0" marL="0">
              <a:buNone/>
            </a:pPr>
            <a:r>
              <a:rPr lang="en-US" sz="1400" dirty="0">
                <a:solidFill>
                  <a:srgbClr val="C5D3CF"/>
                </a:solidFill>
              </a:rPr>
              <a:t>Nombre como en Yape, contacto por el Centro de Empleo, Ley N.° 29733.</a:t>
            </a:r>
            <a:endParaRPr lang="en-US" sz="1400" dirty="0"/>
          </a:p>
        </p:txBody>
      </p:sp>
      <p:sp>
        <p:nvSpPr>
          <p:cNvPr id="20" name="Text 18"/>
          <p:cNvSpPr txBox="1"/>
          <p:nvPr/>
        </p:nvSpPr>
        <p:spPr>
          <a:xfrm>
            <a:off x="548640" y="5852160"/>
            <a:ext cx="10058400" cy="502920"/>
          </a:xfrm>
          <a:prstGeom prst="rect">
            <a:avLst/>
          </a:prstGeom>
          <a:noFill/>
          <a:ln/>
        </p:spPr>
        <p:txBody>
          <a:bodyPr wrap="square" lIns="0" tIns="0" rIns="0" bIns="0" rtlCol="0" anchor="t"/>
          <a:lstStyle/>
          <a:p>
            <a:pPr indent="0" marL="0">
              <a:buNone/>
            </a:pPr>
            <a:r>
              <a:rPr lang="en-US" sz="1100" i="1" dirty="0">
                <a:solidFill>
                  <a:srgbClr val="C5D3CF"/>
                </a:solidFill>
              </a:rPr>
              <a:t>En la demo, el micrófono usa el dictado del navegador y las cuentas se guardan en el navegador; en la versión real serían transcripción local con QVAC y registro con Empleos Perú.</a:t>
            </a:r>
            <a:endParaRPr lang="en-US" sz="1100" dirty="0"/>
          </a:p>
        </p:txBody>
      </p:sp>
      <p:sp>
        <p:nvSpPr>
          <p:cNvPr id="25" name="Slide Number Placeholder 0"/>
          <p:cNvSpPr>
            <a:spLocks noGrp="1"/>
          </p:cNvSpPr>
          <p:nvPr>
            <p:ph type="sldNum" sz="quarter" idx="4294967295"/>
          </p:nvPr>
        </p:nvSpPr>
        <p:spPr>
          <a:xfrm>
            <a:off x="10789920" y="63093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5D3CF"/>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hambea">
  <a:themeElements>
    <a:clrScheme name="Chambea">
      <a:dk1>
        <a:srgbClr val="0E1A17"/>
      </a:dk1>
      <a:lt1>
        <a:srgbClr val="FFFFFF"/>
      </a:lt1>
      <a:dk2>
        <a:srgbClr val="1A7A5C"/>
      </a:dk2>
      <a:lt2>
        <a:srgbClr val="FFF6DE"/>
      </a:lt2>
      <a:accent1>
        <a:srgbClr val="26A17B"/>
      </a:accent1>
      <a:accent2>
        <a:srgbClr val="F5B82E"/>
      </a:accent2>
      <a:accent3>
        <a:srgbClr val="1A7A5C"/>
      </a:accent3>
      <a:accent4>
        <a:srgbClr val="CDEBDF"/>
      </a:accent4>
      <a:accent5>
        <a:srgbClr val="E3E9E7"/>
      </a:accent5>
      <a:accent6>
        <a:srgbClr val="34433F"/>
      </a:accent6>
      <a:hlink>
        <a:srgbClr val="26A17B"/>
      </a:hlink>
      <a:folHlink>
        <a:srgbClr val="1A7A5C"/>
      </a:folHlink>
    </a:clrScheme>
    <a:fontScheme name="Chambe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Innovathon Ulima x Tether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Chambea · Pitch Demo Day</dc:title>
  <dc:subject>PptxGenJS Presentation</dc:subject>
  <dc:creator>Equipo Chambea</dc:creator>
  <cp:lastModifiedBy>Equipo Chambea</cp:lastModifiedBy>
  <cp:revision>1</cp:revision>
  <dcterms:created xsi:type="dcterms:W3CDTF">2026-10-29T18:49:40Z</dcterms:created>
  <dcterms:modified xsi:type="dcterms:W3CDTF">2026-10-29T18:49:40Z</dcterms:modified>
</cp:coreProperties>
</file>