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 Mi panal · 10 segundos
“Al final, Rosa se lleva su panal: cada habilidad con la frase que la prueba, un texto para presentarse sin CV y un plan claro. Puede llevárselo a un asesor con un QR o por Keet.”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 Banco de talento · 10 segundos
“Y si Rosa quiere, aparece en el banco de talento. Una empresa que busca vendedora antes no la habría encontrado, porque su experiencia decía cajera. Con Chambea aparece con 86 % y la etiqueta «viene de otro oficio». Su celular nunca se publica: el contacto pasa por el Centro de Empleo.”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1C"/>
        </a:solidFill>
      </p:bgPr>
    </p:bg>
    <p:spTree>
      <p:nvGrpSpPr>
        <p:cNvPr id="1" name=""/>
        <p:cNvGrpSpPr/>
        <p:nvPr/>
      </p:nvGrpSpPr>
      <p:grpSpPr>
        <a:xfrm>
          <a:off x="0" y="0"/>
          <a:ext cx="0" cy="0"/>
          <a:chOff x="0" y="0"/>
          <a:chExt cx="0" cy="0"/>
        </a:xfrm>
      </p:grpSpPr>
      <p:sp>
        <p:nvSpPr>
          <p:cNvPr id="2" name="Sección"/>
          <p:cNvSpPr txBox="1"/>
          <p:nvPr/>
        </p:nvSpPr>
        <p:spPr>
          <a:xfrm>
            <a:off x="822960" y="576072"/>
            <a:ext cx="4206240" cy="521208"/>
          </a:xfrm>
          <a:prstGeom prst="roundRect">
            <a:avLst>
              <a:gd name="adj" fmla="val 49123"/>
            </a:avLst>
          </a:prstGeom>
          <a:solidFill>
            <a:srgbClr val="26A17B"/>
          </a:solidFill>
          <a:ln/>
        </p:spPr>
        <p:txBody>
          <a:bodyPr wrap="square" lIns="0" tIns="0" rIns="0" bIns="0" rtlCol="0" anchor="ctr"/>
          <a:lstStyle/>
          <a:p>
            <a:pPr algn="ctr" indent="0" marL="0">
              <a:buNone/>
            </a:pPr>
            <a:r>
              <a:rPr lang="en-US" sz="1700" b="1" spc="200" kern="0" dirty="0">
                <a:solidFill>
                  <a:srgbClr val="0E1A17"/>
                </a:solidFill>
              </a:rPr>
              <a:t>04 · EXPERIENCE</a:t>
            </a:r>
            <a:endParaRPr lang="en-US" sz="1700" dirty="0"/>
          </a:p>
        </p:txBody>
      </p:sp>
      <p:sp>
        <p:nvSpPr>
          <p:cNvPr id="3" name="Título"/>
          <p:cNvSpPr txBox="1"/>
          <p:nvPr/>
        </p:nvSpPr>
        <p:spPr>
          <a:xfrm>
            <a:off x="822960" y="1298448"/>
            <a:ext cx="16642080" cy="914400"/>
          </a:xfrm>
          <a:prstGeom prst="rect">
            <a:avLst/>
          </a:prstGeom>
          <a:noFill/>
          <a:ln/>
        </p:spPr>
        <p:txBody>
          <a:bodyPr wrap="square" lIns="0" tIns="0" rIns="0" bIns="0" rtlCol="0" anchor="ctr"/>
          <a:lstStyle/>
          <a:p>
            <a:pPr indent="0" marL="0">
              <a:buNone/>
            </a:pPr>
            <a:r>
              <a:rPr lang="en-US" sz="4800" b="1" dirty="0">
                <a:solidFill>
                  <a:srgbClr val="FFFFFF"/>
                </a:solidFill>
              </a:rPr>
              <a:t>Se lleva su panal: </a:t>
            </a:r>
            <a:pPr indent="0" marL="0">
              <a:buNone/>
            </a:pPr>
            <a:r>
              <a:rPr lang="en-US" sz="4800" b="1" dirty="0">
                <a:solidFill>
                  <a:srgbClr val="5FD3A9"/>
                </a:solidFill>
              </a:rPr>
              <a:t>su experiencia, con prueba</a:t>
            </a:r>
            <a:endParaRPr lang="en-US" sz="4800" dirty="0"/>
          </a:p>
        </p:txBody>
      </p:sp>
      <p:sp>
        <p:nvSpPr>
          <p:cNvPr id="4" name="Marco Tarjeta Mi panal"/>
          <p:cNvSpPr/>
          <p:nvPr/>
        </p:nvSpPr>
        <p:spPr>
          <a:xfrm>
            <a:off x="731520" y="2240280"/>
            <a:ext cx="2872282" cy="7269480"/>
          </a:xfrm>
          <a:prstGeom prst="roundRect">
            <a:avLst>
              <a:gd name="adj" fmla="val 5730"/>
            </a:avLst>
          </a:prstGeom>
          <a:solidFill>
            <a:srgbClr val="FFFFFF"/>
          </a:solidFill>
          <a:ln w="12700">
            <a:solidFill>
              <a:srgbClr val="2C3D38"/>
            </a:solidFill>
            <a:prstDash val="solid"/>
          </a:ln>
          <a:effectLst>
            <a:outerShdw sx="100000" sy="100000" kx="0" ky="0" algn="bl" rotWithShape="0" blurRad="152400" dist="63500" dir="5400000">
              <a:srgbClr val="000000">
                <a:alpha val="35000"/>
              </a:srgbClr>
            </a:outerShdw>
          </a:effectLst>
        </p:spPr>
      </p:sp>
      <p:pic>
        <p:nvPicPr>
          <p:cNvPr id="5" name="Tarjeta Mi panal" descr="Tarjeta Mi panal">    </p:cNvPr>
          <p:cNvPicPr>
            <a:picLocks noChangeAspect="1"/>
          </p:cNvPicPr>
          <p:nvPr/>
        </p:nvPicPr>
        <p:blipFill>
          <a:blip r:embed="rId1"/>
          <a:stretch>
            <a:fillRect/>
          </a:stretch>
        </p:blipFill>
        <p:spPr>
          <a:xfrm>
            <a:off x="822960" y="2331720"/>
            <a:ext cx="2689402" cy="7086600"/>
          </a:xfrm>
          <a:prstGeom prst="rect">
            <a:avLst/>
          </a:prstGeom>
        </p:spPr>
      </p:pic>
      <p:sp>
        <p:nvSpPr>
          <p:cNvPr id="6" name="Marco Cómo presentarte"/>
          <p:cNvSpPr/>
          <p:nvPr/>
        </p:nvSpPr>
        <p:spPr>
          <a:xfrm>
            <a:off x="4069080" y="2240280"/>
            <a:ext cx="3703320" cy="3083801"/>
          </a:xfrm>
          <a:prstGeom prst="roundRect">
            <a:avLst>
              <a:gd name="adj" fmla="val 5337"/>
            </a:avLst>
          </a:prstGeom>
          <a:solidFill>
            <a:srgbClr val="FFFFFF"/>
          </a:solidFill>
          <a:ln w="12700">
            <a:solidFill>
              <a:srgbClr val="2C3D38"/>
            </a:solidFill>
            <a:prstDash val="solid"/>
          </a:ln>
          <a:effectLst>
            <a:outerShdw sx="100000" sy="100000" kx="0" ky="0" algn="bl" rotWithShape="0" blurRad="152400" dist="63500" dir="5400000">
              <a:srgbClr val="000000">
                <a:alpha val="35000"/>
              </a:srgbClr>
            </a:outerShdw>
          </a:effectLst>
        </p:spPr>
      </p:sp>
      <p:pic>
        <p:nvPicPr>
          <p:cNvPr id="7" name="Cómo presentarte" descr="Cómo presentarte">    </p:cNvPr>
          <p:cNvPicPr>
            <a:picLocks noChangeAspect="1"/>
          </p:cNvPicPr>
          <p:nvPr/>
        </p:nvPicPr>
        <p:blipFill>
          <a:blip r:embed="rId2"/>
          <a:stretch>
            <a:fillRect/>
          </a:stretch>
        </p:blipFill>
        <p:spPr>
          <a:xfrm>
            <a:off x="4160520" y="2331720"/>
            <a:ext cx="3520440" cy="2900921"/>
          </a:xfrm>
          <a:prstGeom prst="rect">
            <a:avLst/>
          </a:prstGeom>
        </p:spPr>
      </p:pic>
      <p:sp>
        <p:nvSpPr>
          <p:cNvPr id="8" name="Marco Tu plan"/>
          <p:cNvSpPr/>
          <p:nvPr/>
        </p:nvSpPr>
        <p:spPr>
          <a:xfrm>
            <a:off x="4069080" y="5552681"/>
            <a:ext cx="3703320" cy="3919660"/>
          </a:xfrm>
          <a:prstGeom prst="roundRect">
            <a:avLst>
              <a:gd name="adj" fmla="val 4444"/>
            </a:avLst>
          </a:prstGeom>
          <a:solidFill>
            <a:srgbClr val="FFFFFF"/>
          </a:solidFill>
          <a:ln w="12700">
            <a:solidFill>
              <a:srgbClr val="2C3D38"/>
            </a:solidFill>
            <a:prstDash val="solid"/>
          </a:ln>
          <a:effectLst>
            <a:outerShdw sx="100000" sy="100000" kx="0" ky="0" algn="bl" rotWithShape="0" blurRad="152400" dist="63500" dir="5400000">
              <a:srgbClr val="000000">
                <a:alpha val="35000"/>
              </a:srgbClr>
            </a:outerShdw>
          </a:effectLst>
        </p:spPr>
      </p:sp>
      <p:pic>
        <p:nvPicPr>
          <p:cNvPr id="9" name="Tu plan" descr="Tu plan">    </p:cNvPr>
          <p:cNvPicPr>
            <a:picLocks noChangeAspect="1"/>
          </p:cNvPicPr>
          <p:nvPr/>
        </p:nvPicPr>
        <p:blipFill>
          <a:blip r:embed="rId3"/>
          <a:stretch>
            <a:fillRect/>
          </a:stretch>
        </p:blipFill>
        <p:spPr>
          <a:xfrm>
            <a:off x="4160520" y="5644121"/>
            <a:ext cx="3520440" cy="3736780"/>
          </a:xfrm>
          <a:prstGeom prst="rect">
            <a:avLst/>
          </a:prstGeom>
        </p:spPr>
      </p:pic>
      <p:sp>
        <p:nvSpPr>
          <p:cNvPr id="10" name="Ventaja 1"/>
          <p:cNvSpPr/>
          <p:nvPr/>
        </p:nvSpPr>
        <p:spPr>
          <a:xfrm>
            <a:off x="8915400" y="2240280"/>
            <a:ext cx="8549640" cy="1298448"/>
          </a:xfrm>
          <a:prstGeom prst="roundRect">
            <a:avLst>
              <a:gd name="adj" fmla="val 11268"/>
            </a:avLst>
          </a:prstGeom>
          <a:solidFill>
            <a:srgbClr val="1C2C27"/>
          </a:solidFill>
          <a:ln w="12700">
            <a:solidFill>
              <a:srgbClr val="2C3D38"/>
            </a:solidFill>
            <a:prstDash val="solid"/>
          </a:ln>
        </p:spPr>
      </p:sp>
      <p:sp>
        <p:nvSpPr>
          <p:cNvPr id="11" name="Hexágono 1"/>
          <p:cNvSpPr txBox="1"/>
          <p:nvPr/>
        </p:nvSpPr>
        <p:spPr>
          <a:xfrm>
            <a:off x="9189720" y="2514600"/>
            <a:ext cx="868680" cy="752277"/>
          </a:xfrm>
          <a:prstGeom prst="hexagon">
            <a:avLst/>
          </a:prstGeom>
          <a:solidFill>
            <a:srgbClr val="F5B82E"/>
          </a:solidFill>
          <a:ln/>
        </p:spPr>
        <p:txBody>
          <a:bodyPr wrap="square" lIns="0" tIns="0" rIns="0" bIns="0" rtlCol="0" anchor="ctr"/>
          <a:lstStyle/>
          <a:p>
            <a:pPr algn="ctr" indent="0" marL="0">
              <a:buNone/>
            </a:pPr>
            <a:r>
              <a:rPr lang="en-US" sz="2000" b="1" dirty="0">
                <a:solidFill>
                  <a:srgbClr val="0E1A17"/>
                </a:solidFill>
              </a:rPr>
              <a:t>1</a:t>
            </a:r>
            <a:endParaRPr lang="en-US" sz="2000" dirty="0"/>
          </a:p>
        </p:txBody>
      </p:sp>
      <p:sp>
        <p:nvSpPr>
          <p:cNvPr id="12" name="Text 7"/>
          <p:cNvSpPr txBox="1"/>
          <p:nvPr/>
        </p:nvSpPr>
        <p:spPr>
          <a:xfrm>
            <a:off x="10332720" y="2395728"/>
            <a:ext cx="6949440" cy="1051560"/>
          </a:xfrm>
          <a:prstGeom prst="rect">
            <a:avLst/>
          </a:prstGeom>
          <a:noFill/>
          <a:ln/>
        </p:spPr>
        <p:txBody>
          <a:bodyPr wrap="square" lIns="0" tIns="0" rIns="0" bIns="0" rtlCol="0" anchor="t"/>
          <a:lstStyle/>
          <a:p>
            <a:pPr indent="0" marL="0">
              <a:buNone/>
            </a:pPr>
            <a:r>
              <a:rPr lang="en-US" sz="2200" b="1" dirty="0">
                <a:solidFill>
                  <a:srgbClr val="FFFFFF"/>
                </a:solidFill>
              </a:rPr>
              <a:t>Prueba, no promesa</a:t>
            </a:r>
            <a:endParaRPr lang="en-US" sz="1700" dirty="0"/>
          </a:p>
          <a:p>
            <a:pPr indent="0" marL="0">
              <a:buNone/>
            </a:pPr>
            <a:r>
              <a:rPr lang="en-US" sz="1700" dirty="0">
                <a:solidFill>
                  <a:srgbClr val="C5D3CF"/>
                </a:solidFill>
              </a:rPr>
              <a:t>Cada habilidad lleva la frase que la demuestra: «Me dejan cerrar la caja sola, nunca me falta plata».</a:t>
            </a:r>
            <a:endParaRPr lang="en-US" sz="1700" dirty="0"/>
          </a:p>
        </p:txBody>
      </p:sp>
      <p:sp>
        <p:nvSpPr>
          <p:cNvPr id="13" name="Ventaja 2"/>
          <p:cNvSpPr/>
          <p:nvPr/>
        </p:nvSpPr>
        <p:spPr>
          <a:xfrm>
            <a:off x="8915400" y="3721608"/>
            <a:ext cx="8549640" cy="1298448"/>
          </a:xfrm>
          <a:prstGeom prst="roundRect">
            <a:avLst>
              <a:gd name="adj" fmla="val 11268"/>
            </a:avLst>
          </a:prstGeom>
          <a:solidFill>
            <a:srgbClr val="1C2C27"/>
          </a:solidFill>
          <a:ln w="12700">
            <a:solidFill>
              <a:srgbClr val="2C3D38"/>
            </a:solidFill>
            <a:prstDash val="solid"/>
          </a:ln>
        </p:spPr>
      </p:sp>
      <p:sp>
        <p:nvSpPr>
          <p:cNvPr id="14" name="Hexágono 2"/>
          <p:cNvSpPr txBox="1"/>
          <p:nvPr/>
        </p:nvSpPr>
        <p:spPr>
          <a:xfrm>
            <a:off x="9189720" y="3995928"/>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2</a:t>
            </a:r>
            <a:endParaRPr lang="en-US" sz="2000" dirty="0"/>
          </a:p>
        </p:txBody>
      </p:sp>
      <p:sp>
        <p:nvSpPr>
          <p:cNvPr id="15" name="Text 10"/>
          <p:cNvSpPr txBox="1"/>
          <p:nvPr/>
        </p:nvSpPr>
        <p:spPr>
          <a:xfrm>
            <a:off x="10332720" y="3877056"/>
            <a:ext cx="6949440" cy="1051560"/>
          </a:xfrm>
          <a:prstGeom prst="rect">
            <a:avLst/>
          </a:prstGeom>
          <a:noFill/>
          <a:ln/>
        </p:spPr>
        <p:txBody>
          <a:bodyPr wrap="square" lIns="0" tIns="0" rIns="0" bIns="0" rtlCol="0" anchor="t"/>
          <a:lstStyle/>
          <a:p>
            <a:pPr indent="0" marL="0">
              <a:buNone/>
            </a:pPr>
            <a:r>
              <a:rPr lang="en-US" sz="2200" b="1" dirty="0">
                <a:solidFill>
                  <a:srgbClr val="FFFFFF"/>
                </a:solidFill>
              </a:rPr>
              <a:t>Se presenta sin CV</a:t>
            </a:r>
            <a:endParaRPr lang="en-US" sz="1700" dirty="0"/>
          </a:p>
          <a:p>
            <a:pPr indent="0" marL="0">
              <a:buNone/>
            </a:pPr>
            <a:r>
              <a:rPr lang="en-US" sz="1700" dirty="0">
                <a:solidFill>
                  <a:srgbClr val="C5D3CF"/>
                </a:solidFill>
              </a:rPr>
              <a:t>Un texto listo para mandar por WhatsApp o decir en una entrevista.</a:t>
            </a:r>
            <a:endParaRPr lang="en-US" sz="1700" dirty="0"/>
          </a:p>
        </p:txBody>
      </p:sp>
      <p:sp>
        <p:nvSpPr>
          <p:cNvPr id="16" name="Ventaja 3"/>
          <p:cNvSpPr/>
          <p:nvPr/>
        </p:nvSpPr>
        <p:spPr>
          <a:xfrm>
            <a:off x="8915400" y="5202936"/>
            <a:ext cx="8549640" cy="1298448"/>
          </a:xfrm>
          <a:prstGeom prst="roundRect">
            <a:avLst>
              <a:gd name="adj" fmla="val 11268"/>
            </a:avLst>
          </a:prstGeom>
          <a:solidFill>
            <a:srgbClr val="1C2C27"/>
          </a:solidFill>
          <a:ln w="12700">
            <a:solidFill>
              <a:srgbClr val="2C3D38"/>
            </a:solidFill>
            <a:prstDash val="solid"/>
          </a:ln>
        </p:spPr>
      </p:sp>
      <p:sp>
        <p:nvSpPr>
          <p:cNvPr id="17" name="Hexágono 3"/>
          <p:cNvSpPr txBox="1"/>
          <p:nvPr/>
        </p:nvSpPr>
        <p:spPr>
          <a:xfrm>
            <a:off x="9189720" y="5477256"/>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3</a:t>
            </a:r>
            <a:endParaRPr lang="en-US" sz="2000" dirty="0"/>
          </a:p>
        </p:txBody>
      </p:sp>
      <p:sp>
        <p:nvSpPr>
          <p:cNvPr id="18" name="Text 13"/>
          <p:cNvSpPr txBox="1"/>
          <p:nvPr/>
        </p:nvSpPr>
        <p:spPr>
          <a:xfrm>
            <a:off x="10332720" y="5358384"/>
            <a:ext cx="6949440" cy="1051560"/>
          </a:xfrm>
          <a:prstGeom prst="rect">
            <a:avLst/>
          </a:prstGeom>
          <a:noFill/>
          <a:ln/>
        </p:spPr>
        <p:txBody>
          <a:bodyPr wrap="square" lIns="0" tIns="0" rIns="0" bIns="0" rtlCol="0" anchor="t"/>
          <a:lstStyle/>
          <a:p>
            <a:pPr indent="0" marL="0">
              <a:buNone/>
            </a:pPr>
            <a:r>
              <a:rPr lang="en-US" sz="2200" b="1" dirty="0">
                <a:solidFill>
                  <a:srgbClr val="FFFFFF"/>
                </a:solidFill>
              </a:rPr>
              <a:t>Sabe qué hacer mañana</a:t>
            </a:r>
            <a:endParaRPr lang="en-US" sz="1700" dirty="0"/>
          </a:p>
          <a:p>
            <a:pPr indent="0" marL="0">
              <a:buNone/>
            </a:pPr>
            <a:r>
              <a:rPr lang="en-US" sz="1700" dirty="0">
                <a:solidFill>
                  <a:srgbClr val="C5D3CF"/>
                </a:solidFill>
              </a:rPr>
              <a:t>Un plan: curso gratis en Capacíta-T, Certificado Único Laboral, postular y certificarse.</a:t>
            </a:r>
            <a:endParaRPr lang="en-US" sz="1700" dirty="0"/>
          </a:p>
        </p:txBody>
      </p:sp>
      <p:sp>
        <p:nvSpPr>
          <p:cNvPr id="19" name="Ventaja 4"/>
          <p:cNvSpPr/>
          <p:nvPr/>
        </p:nvSpPr>
        <p:spPr>
          <a:xfrm>
            <a:off x="8915400" y="6684264"/>
            <a:ext cx="8549640" cy="1298448"/>
          </a:xfrm>
          <a:prstGeom prst="roundRect">
            <a:avLst>
              <a:gd name="adj" fmla="val 11268"/>
            </a:avLst>
          </a:prstGeom>
          <a:solidFill>
            <a:srgbClr val="1C2C27"/>
          </a:solidFill>
          <a:ln w="12700">
            <a:solidFill>
              <a:srgbClr val="2C3D38"/>
            </a:solidFill>
            <a:prstDash val="solid"/>
          </a:ln>
        </p:spPr>
      </p:sp>
      <p:sp>
        <p:nvSpPr>
          <p:cNvPr id="20" name="Hexágono 4"/>
          <p:cNvSpPr txBox="1"/>
          <p:nvPr/>
        </p:nvSpPr>
        <p:spPr>
          <a:xfrm>
            <a:off x="9189720" y="6958584"/>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4</a:t>
            </a:r>
            <a:endParaRPr lang="en-US" sz="2000" dirty="0"/>
          </a:p>
        </p:txBody>
      </p:sp>
      <p:sp>
        <p:nvSpPr>
          <p:cNvPr id="21" name="Text 16"/>
          <p:cNvSpPr txBox="1"/>
          <p:nvPr/>
        </p:nvSpPr>
        <p:spPr>
          <a:xfrm>
            <a:off x="10332720" y="6839712"/>
            <a:ext cx="6949440" cy="1051560"/>
          </a:xfrm>
          <a:prstGeom prst="rect">
            <a:avLst/>
          </a:prstGeom>
          <a:noFill/>
          <a:ln/>
        </p:spPr>
        <p:txBody>
          <a:bodyPr wrap="square" lIns="0" tIns="0" rIns="0" bIns="0" rtlCol="0" anchor="t"/>
          <a:lstStyle/>
          <a:p>
            <a:pPr indent="0" marL="0">
              <a:buNone/>
            </a:pPr>
            <a:r>
              <a:rPr lang="en-US" sz="2200" b="1" dirty="0">
                <a:solidFill>
                  <a:srgbClr val="FFFFFF"/>
                </a:solidFill>
              </a:rPr>
              <a:t>Lo lleva a un asesor</a:t>
            </a:r>
            <a:endParaRPr lang="en-US" sz="1700" dirty="0"/>
          </a:p>
          <a:p>
            <a:pPr indent="0" marL="0">
              <a:buNone/>
            </a:pPr>
            <a:r>
              <a:rPr lang="en-US" sz="1700" dirty="0">
                <a:solidFill>
                  <a:srgbClr val="C5D3CF"/>
                </a:solidFill>
              </a:rPr>
              <a:t>Con un QR o por Keet: el asesor ve su panal sin que ella se registre.</a:t>
            </a:r>
            <a:endParaRPr lang="en-US" sz="1700" dirty="0"/>
          </a:p>
        </p:txBody>
      </p:sp>
      <p:sp>
        <p:nvSpPr>
          <p:cNvPr id="22" name="Reto"/>
          <p:cNvSpPr/>
          <p:nvPr/>
        </p:nvSpPr>
        <p:spPr>
          <a:xfrm>
            <a:off x="8915400" y="8275320"/>
            <a:ext cx="8549640" cy="1417320"/>
          </a:xfrm>
          <a:prstGeom prst="roundRect">
            <a:avLst>
              <a:gd name="adj" fmla="val 10323"/>
            </a:avLst>
          </a:prstGeom>
          <a:solidFill>
            <a:srgbClr val="1A7A5C"/>
          </a:solidFill>
          <a:ln w="12700">
            <a:solidFill>
              <a:srgbClr val="1A7A5C"/>
            </a:solidFill>
            <a:prstDash val="solid"/>
          </a:ln>
        </p:spPr>
      </p:sp>
      <p:sp>
        <p:nvSpPr>
          <p:cNvPr id="23" name="Text 18"/>
          <p:cNvSpPr txBox="1"/>
          <p:nvPr/>
        </p:nvSpPr>
        <p:spPr>
          <a:xfrm>
            <a:off x="9189720" y="8412480"/>
            <a:ext cx="8046720" cy="1143000"/>
          </a:xfrm>
          <a:prstGeom prst="rect">
            <a:avLst/>
          </a:prstGeom>
          <a:noFill/>
          <a:ln/>
        </p:spPr>
        <p:txBody>
          <a:bodyPr wrap="square" lIns="0" tIns="0" rIns="0" bIns="0" rtlCol="0" anchor="ctr"/>
          <a:lstStyle/>
          <a:p>
            <a:pPr indent="0" marL="0">
              <a:buNone/>
            </a:pPr>
            <a:r>
              <a:rPr lang="en-US" sz="2100" b="1" dirty="0">
                <a:solidFill>
                  <a:srgbClr val="F5B82E"/>
                </a:solidFill>
              </a:rPr>
              <a:t>Responde al reto: </a:t>
            </a:r>
            <a:pPr indent="0" marL="0">
              <a:buNone/>
            </a:pPr>
            <a:r>
              <a:rPr lang="en-US" sz="2100" dirty="0">
                <a:solidFill>
                  <a:srgbClr val="FFFFFF"/>
                </a:solidFill>
              </a:rPr>
              <a:t>sus competencias se presentan de forma creíble ante un empleador.</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201C"/>
        </a:solidFill>
      </p:bgPr>
    </p:bg>
    <p:spTree>
      <p:nvGrpSpPr>
        <p:cNvPr id="1" name=""/>
        <p:cNvGrpSpPr/>
        <p:nvPr/>
      </p:nvGrpSpPr>
      <p:grpSpPr>
        <a:xfrm>
          <a:off x="0" y="0"/>
          <a:ext cx="0" cy="0"/>
          <a:chOff x="0" y="0"/>
          <a:chExt cx="0" cy="0"/>
        </a:xfrm>
      </p:grpSpPr>
      <p:sp>
        <p:nvSpPr>
          <p:cNvPr id="2" name="Sección"/>
          <p:cNvSpPr txBox="1"/>
          <p:nvPr/>
        </p:nvSpPr>
        <p:spPr>
          <a:xfrm>
            <a:off x="822960" y="576072"/>
            <a:ext cx="4206240" cy="521208"/>
          </a:xfrm>
          <a:prstGeom prst="roundRect">
            <a:avLst>
              <a:gd name="adj" fmla="val 49123"/>
            </a:avLst>
          </a:prstGeom>
          <a:solidFill>
            <a:srgbClr val="26A17B"/>
          </a:solidFill>
          <a:ln/>
        </p:spPr>
        <p:txBody>
          <a:bodyPr wrap="square" lIns="0" tIns="0" rIns="0" bIns="0" rtlCol="0" anchor="ctr"/>
          <a:lstStyle/>
          <a:p>
            <a:pPr algn="ctr" indent="0" marL="0">
              <a:buNone/>
            </a:pPr>
            <a:r>
              <a:rPr lang="en-US" sz="1700" b="1" spc="200" kern="0" dirty="0">
                <a:solidFill>
                  <a:srgbClr val="0E1A17"/>
                </a:solidFill>
              </a:rPr>
              <a:t>04 · EXPERIENCE</a:t>
            </a:r>
            <a:endParaRPr lang="en-US" sz="1700" dirty="0"/>
          </a:p>
        </p:txBody>
      </p:sp>
      <p:sp>
        <p:nvSpPr>
          <p:cNvPr id="3" name="Título"/>
          <p:cNvSpPr txBox="1"/>
          <p:nvPr/>
        </p:nvSpPr>
        <p:spPr>
          <a:xfrm>
            <a:off x="822960" y="1298448"/>
            <a:ext cx="16642080" cy="914400"/>
          </a:xfrm>
          <a:prstGeom prst="rect">
            <a:avLst/>
          </a:prstGeom>
          <a:noFill/>
          <a:ln/>
        </p:spPr>
        <p:txBody>
          <a:bodyPr wrap="square" lIns="0" tIns="0" rIns="0" bIns="0" rtlCol="0" anchor="ctr"/>
          <a:lstStyle/>
          <a:p>
            <a:pPr indent="0" marL="0">
              <a:buNone/>
            </a:pPr>
            <a:r>
              <a:rPr lang="en-US" sz="4800" b="1" dirty="0">
                <a:solidFill>
                  <a:srgbClr val="FFFFFF"/>
                </a:solidFill>
              </a:rPr>
              <a:t>Las empresas la encuentran </a:t>
            </a:r>
            <a:pPr indent="0" marL="0">
              <a:buNone/>
            </a:pPr>
            <a:r>
              <a:rPr lang="en-US" sz="4800" b="1" dirty="0">
                <a:solidFill>
                  <a:srgbClr val="5FD3A9"/>
                </a:solidFill>
              </a:rPr>
              <a:t>por lo que sabe hacer</a:t>
            </a:r>
            <a:endParaRPr lang="en-US" sz="4800" dirty="0"/>
          </a:p>
        </p:txBody>
      </p:sp>
      <p:sp>
        <p:nvSpPr>
          <p:cNvPr id="4" name="Sin Chambea"/>
          <p:cNvSpPr/>
          <p:nvPr/>
        </p:nvSpPr>
        <p:spPr>
          <a:xfrm>
            <a:off x="822960" y="2240280"/>
            <a:ext cx="5577840" cy="2514600"/>
          </a:xfrm>
          <a:prstGeom prst="roundRect">
            <a:avLst>
              <a:gd name="adj" fmla="val 5818"/>
            </a:avLst>
          </a:prstGeom>
          <a:solidFill>
            <a:srgbClr val="2A3733"/>
          </a:solidFill>
          <a:ln w="12700">
            <a:solidFill>
              <a:srgbClr val="2C3D38"/>
            </a:solidFill>
            <a:prstDash val="solid"/>
          </a:ln>
        </p:spPr>
      </p:sp>
      <p:sp>
        <p:nvSpPr>
          <p:cNvPr id="5" name="Text 3"/>
          <p:cNvSpPr txBox="1"/>
          <p:nvPr/>
        </p:nvSpPr>
        <p:spPr>
          <a:xfrm>
            <a:off x="1143000" y="2468880"/>
            <a:ext cx="4937760" cy="411480"/>
          </a:xfrm>
          <a:prstGeom prst="rect">
            <a:avLst/>
          </a:prstGeom>
          <a:noFill/>
          <a:ln/>
        </p:spPr>
        <p:txBody>
          <a:bodyPr wrap="square" lIns="0" tIns="0" rIns="0" bIns="0" rtlCol="0" anchor="t"/>
          <a:lstStyle/>
          <a:p>
            <a:pPr indent="0" marL="0">
              <a:buNone/>
            </a:pPr>
            <a:r>
              <a:rPr lang="en-US" sz="1600" b="1" spc="200" kern="0" dirty="0">
                <a:solidFill>
                  <a:srgbClr val="C5D3CF"/>
                </a:solidFill>
              </a:rPr>
              <a:t>SIN CHAMBEA</a:t>
            </a:r>
            <a:endParaRPr lang="en-US" sz="1600" dirty="0"/>
          </a:p>
        </p:txBody>
      </p:sp>
      <p:sp>
        <p:nvSpPr>
          <p:cNvPr id="6" name="Text 4"/>
          <p:cNvSpPr txBox="1"/>
          <p:nvPr/>
        </p:nvSpPr>
        <p:spPr>
          <a:xfrm>
            <a:off x="1143000" y="2971800"/>
            <a:ext cx="4937760" cy="1645920"/>
          </a:xfrm>
          <a:prstGeom prst="rect">
            <a:avLst/>
          </a:prstGeom>
          <a:noFill/>
          <a:ln/>
        </p:spPr>
        <p:txBody>
          <a:bodyPr wrap="square" lIns="0" tIns="0" rIns="0" bIns="0" rtlCol="0" anchor="t"/>
          <a:lstStyle/>
          <a:p>
            <a:pPr indent="0" marL="0">
              <a:buNone/>
            </a:pPr>
            <a:r>
              <a:rPr lang="en-US" sz="1900" b="1" dirty="0">
                <a:solidFill>
                  <a:srgbClr val="FFFFFF"/>
                </a:solidFill>
              </a:rPr>
              <a:t>La empresa busca «vendedora con experiencia».</a:t>
            </a:r>
            <a:endParaRPr lang="en-US" sz="1900" dirty="0"/>
          </a:p>
          <a:p>
            <a:pPr indent="0" marL="0">
              <a:buNone/>
            </a:pPr>
            <a:r>
              <a:rPr lang="en-US" sz="1900" dirty="0">
                <a:solidFill>
                  <a:srgbClr val="C5D3CF"/>
                </a:solidFill>
              </a:rPr>
              <a:t>Rosa no aparece: su experiencia dice «cajera» y no tiene un papel que lo pruebe.</a:t>
            </a:r>
            <a:endParaRPr lang="en-US" sz="1900" dirty="0"/>
          </a:p>
        </p:txBody>
      </p:sp>
      <p:sp>
        <p:nvSpPr>
          <p:cNvPr id="7" name="Flecha"/>
          <p:cNvSpPr txBox="1"/>
          <p:nvPr/>
        </p:nvSpPr>
        <p:spPr>
          <a:xfrm>
            <a:off x="3154680" y="4773168"/>
            <a:ext cx="914400" cy="685800"/>
          </a:xfrm>
          <a:prstGeom prst="rect">
            <a:avLst/>
          </a:prstGeom>
          <a:noFill/>
          <a:ln/>
        </p:spPr>
        <p:txBody>
          <a:bodyPr wrap="square" lIns="0" tIns="0" rIns="0" bIns="0" rtlCol="0" anchor="ctr"/>
          <a:lstStyle/>
          <a:p>
            <a:pPr algn="ctr" indent="0" marL="0">
              <a:buNone/>
            </a:pPr>
            <a:r>
              <a:rPr lang="en-US" sz="4000" b="1" dirty="0">
                <a:solidFill>
                  <a:srgbClr val="5FD3A9"/>
                </a:solidFill>
              </a:rPr>
              <a:t>↓</a:t>
            </a:r>
            <a:endParaRPr lang="en-US" sz="4000" dirty="0"/>
          </a:p>
        </p:txBody>
      </p:sp>
      <p:sp>
        <p:nvSpPr>
          <p:cNvPr id="8" name="Con Chambea"/>
          <p:cNvSpPr/>
          <p:nvPr/>
        </p:nvSpPr>
        <p:spPr>
          <a:xfrm>
            <a:off x="822960" y="5486400"/>
            <a:ext cx="5577840" cy="2697480"/>
          </a:xfrm>
          <a:prstGeom prst="roundRect">
            <a:avLst>
              <a:gd name="adj" fmla="val 5424"/>
            </a:avLst>
          </a:prstGeom>
          <a:solidFill>
            <a:srgbClr val="1A7A5C"/>
          </a:solidFill>
          <a:ln w="12700">
            <a:solidFill>
              <a:srgbClr val="26A17B"/>
            </a:solidFill>
            <a:prstDash val="solid"/>
          </a:ln>
        </p:spPr>
      </p:sp>
      <p:sp>
        <p:nvSpPr>
          <p:cNvPr id="9" name="Text 7"/>
          <p:cNvSpPr txBox="1"/>
          <p:nvPr/>
        </p:nvSpPr>
        <p:spPr>
          <a:xfrm>
            <a:off x="1143000" y="5715000"/>
            <a:ext cx="4937760" cy="411480"/>
          </a:xfrm>
          <a:prstGeom prst="rect">
            <a:avLst/>
          </a:prstGeom>
          <a:noFill/>
          <a:ln/>
        </p:spPr>
        <p:txBody>
          <a:bodyPr wrap="square" lIns="0" tIns="0" rIns="0" bIns="0" rtlCol="0" anchor="t"/>
          <a:lstStyle/>
          <a:p>
            <a:pPr indent="0" marL="0">
              <a:buNone/>
            </a:pPr>
            <a:r>
              <a:rPr lang="en-US" sz="1600" b="1" spc="200" kern="0" dirty="0">
                <a:solidFill>
                  <a:srgbClr val="F5B82E"/>
                </a:solidFill>
              </a:rPr>
              <a:t>CON CHAMBEA</a:t>
            </a:r>
            <a:endParaRPr lang="en-US" sz="1600" dirty="0"/>
          </a:p>
        </p:txBody>
      </p:sp>
      <p:sp>
        <p:nvSpPr>
          <p:cNvPr id="10" name="Text 8"/>
          <p:cNvSpPr txBox="1"/>
          <p:nvPr/>
        </p:nvSpPr>
        <p:spPr>
          <a:xfrm>
            <a:off x="1143000" y="6217920"/>
            <a:ext cx="4937760" cy="1828800"/>
          </a:xfrm>
          <a:prstGeom prst="rect">
            <a:avLst/>
          </a:prstGeom>
          <a:noFill/>
          <a:ln/>
        </p:spPr>
        <p:txBody>
          <a:bodyPr wrap="square" lIns="0" tIns="0" rIns="0" bIns="0" rtlCol="0" anchor="t"/>
          <a:lstStyle/>
          <a:p>
            <a:pPr indent="0" marL="0">
              <a:buNone/>
            </a:pPr>
            <a:r>
              <a:rPr lang="en-US" sz="1900" b="1" dirty="0">
                <a:solidFill>
                  <a:srgbClr val="FFFFFF"/>
                </a:solidFill>
              </a:rPr>
              <a:t>Busca por lo que el puesto necesita.</a:t>
            </a:r>
            <a:endParaRPr lang="en-US" sz="1900" dirty="0"/>
          </a:p>
          <a:p>
            <a:pPr indent="0" marL="0">
              <a:buNone/>
            </a:pPr>
            <a:r>
              <a:rPr lang="en-US" sz="1900" dirty="0">
                <a:solidFill>
                  <a:srgbClr val="FFFFFF"/>
                </a:solidFill>
              </a:rPr>
              <a:t>Rosa aparece con 86 % para Vendedor/a de tienda y la etiqueta «Viene de otro oficio».</a:t>
            </a:r>
            <a:endParaRPr lang="en-US" sz="1900" dirty="0"/>
          </a:p>
        </p:txBody>
      </p:sp>
      <p:sp>
        <p:nvSpPr>
          <p:cNvPr id="11" name="Marco Resumen del banco"/>
          <p:cNvSpPr/>
          <p:nvPr/>
        </p:nvSpPr>
        <p:spPr>
          <a:xfrm>
            <a:off x="6720840" y="2240280"/>
            <a:ext cx="4526280" cy="1202002"/>
          </a:xfrm>
          <a:prstGeom prst="roundRect">
            <a:avLst>
              <a:gd name="adj" fmla="val 13693"/>
            </a:avLst>
          </a:prstGeom>
          <a:solidFill>
            <a:srgbClr val="FFFFFF"/>
          </a:solidFill>
          <a:ln w="12700">
            <a:solidFill>
              <a:srgbClr val="2C3D38"/>
            </a:solidFill>
            <a:prstDash val="solid"/>
          </a:ln>
          <a:effectLst>
            <a:outerShdw sx="100000" sy="100000" kx="0" ky="0" algn="bl" rotWithShape="0" blurRad="152400" dist="63500" dir="5400000">
              <a:srgbClr val="000000">
                <a:alpha val="35000"/>
              </a:srgbClr>
            </a:outerShdw>
          </a:effectLst>
        </p:spPr>
      </p:sp>
      <p:pic>
        <p:nvPicPr>
          <p:cNvPr id="12" name="Resumen del banco" descr="Resumen del banco">    </p:cNvPr>
          <p:cNvPicPr>
            <a:picLocks noChangeAspect="1"/>
          </p:cNvPicPr>
          <p:nvPr/>
        </p:nvPicPr>
        <p:blipFill>
          <a:blip r:embed="rId1"/>
          <a:stretch>
            <a:fillRect/>
          </a:stretch>
        </p:blipFill>
        <p:spPr>
          <a:xfrm>
            <a:off x="6812280" y="2331720"/>
            <a:ext cx="4343400" cy="1019122"/>
          </a:xfrm>
          <a:prstGeom prst="rect">
            <a:avLst/>
          </a:prstGeom>
        </p:spPr>
      </p:pic>
      <p:sp>
        <p:nvSpPr>
          <p:cNvPr id="13" name="Marco Tarjeta de Rosa"/>
          <p:cNvSpPr/>
          <p:nvPr/>
        </p:nvSpPr>
        <p:spPr>
          <a:xfrm>
            <a:off x="6720840" y="3670882"/>
            <a:ext cx="4526280" cy="5278489"/>
          </a:xfrm>
          <a:prstGeom prst="roundRect">
            <a:avLst>
              <a:gd name="adj" fmla="val 3636"/>
            </a:avLst>
          </a:prstGeom>
          <a:solidFill>
            <a:srgbClr val="FFFFFF"/>
          </a:solidFill>
          <a:ln w="12700">
            <a:solidFill>
              <a:srgbClr val="2C3D38"/>
            </a:solidFill>
            <a:prstDash val="solid"/>
          </a:ln>
          <a:effectLst>
            <a:outerShdw sx="100000" sy="100000" kx="0" ky="0" algn="bl" rotWithShape="0" blurRad="152400" dist="63500" dir="5400000">
              <a:srgbClr val="000000">
                <a:alpha val="35000"/>
              </a:srgbClr>
            </a:outerShdw>
          </a:effectLst>
        </p:spPr>
      </p:sp>
      <p:pic>
        <p:nvPicPr>
          <p:cNvPr id="14" name="Tarjeta de Rosa" descr="Tarjeta de Rosa">    </p:cNvPr>
          <p:cNvPicPr>
            <a:picLocks noChangeAspect="1"/>
          </p:cNvPicPr>
          <p:nvPr/>
        </p:nvPicPr>
        <p:blipFill>
          <a:blip r:embed="rId2"/>
          <a:stretch>
            <a:fillRect/>
          </a:stretch>
        </p:blipFill>
        <p:spPr>
          <a:xfrm>
            <a:off x="6812280" y="3762322"/>
            <a:ext cx="4343400" cy="5095609"/>
          </a:xfrm>
          <a:prstGeom prst="rect">
            <a:avLst/>
          </a:prstGeom>
        </p:spPr>
      </p:pic>
      <p:sp>
        <p:nvSpPr>
          <p:cNvPr id="15" name="Para ella"/>
          <p:cNvSpPr/>
          <p:nvPr/>
        </p:nvSpPr>
        <p:spPr>
          <a:xfrm>
            <a:off x="11658600" y="2240280"/>
            <a:ext cx="5806440" cy="1783080"/>
          </a:xfrm>
          <a:prstGeom prst="roundRect">
            <a:avLst>
              <a:gd name="adj" fmla="val 8205"/>
            </a:avLst>
          </a:prstGeom>
          <a:solidFill>
            <a:srgbClr val="1C2C27"/>
          </a:solidFill>
          <a:ln w="12700">
            <a:solidFill>
              <a:srgbClr val="2C3D38"/>
            </a:solidFill>
            <a:prstDash val="solid"/>
          </a:ln>
        </p:spPr>
      </p:sp>
      <p:sp>
        <p:nvSpPr>
          <p:cNvPr id="16" name="Actor Para ella"/>
          <p:cNvSpPr txBox="1"/>
          <p:nvPr/>
        </p:nvSpPr>
        <p:spPr>
          <a:xfrm>
            <a:off x="11932920" y="2496312"/>
            <a:ext cx="5303520" cy="457200"/>
          </a:xfrm>
          <a:prstGeom prst="rect">
            <a:avLst/>
          </a:prstGeom>
          <a:noFill/>
          <a:ln/>
        </p:spPr>
        <p:txBody>
          <a:bodyPr wrap="square" lIns="0" tIns="0" rIns="0" bIns="0" rtlCol="0" anchor="ctr"/>
          <a:lstStyle/>
          <a:p>
            <a:pPr indent="0" marL="0">
              <a:buNone/>
            </a:pPr>
            <a:r>
              <a:rPr lang="en-US" sz="2200" b="1" dirty="0">
                <a:solidFill>
                  <a:srgbClr val="F5B82E"/>
                </a:solidFill>
              </a:rPr>
              <a:t>Para ella</a:t>
            </a:r>
            <a:endParaRPr lang="en-US" sz="2200" dirty="0"/>
          </a:p>
        </p:txBody>
      </p:sp>
      <p:sp>
        <p:nvSpPr>
          <p:cNvPr id="17" name="Text 13"/>
          <p:cNvSpPr txBox="1"/>
          <p:nvPr/>
        </p:nvSpPr>
        <p:spPr>
          <a:xfrm>
            <a:off x="11932920" y="3017520"/>
            <a:ext cx="5303520" cy="1005840"/>
          </a:xfrm>
          <a:prstGeom prst="rect">
            <a:avLst/>
          </a:prstGeom>
          <a:noFill/>
          <a:ln/>
        </p:spPr>
        <p:txBody>
          <a:bodyPr wrap="square" lIns="0" tIns="0" rIns="0" bIns="0" rtlCol="0" anchor="t"/>
          <a:lstStyle/>
          <a:p>
            <a:pPr indent="0" marL="0">
              <a:buNone/>
            </a:pPr>
            <a:r>
              <a:rPr lang="en-US" sz="1700" dirty="0">
                <a:solidFill>
                  <a:srgbClr val="C5D3CF"/>
                </a:solidFill>
              </a:rPr>
              <a:t>Aparece solo si quiere. Su nombre se ve como en Yape y su celular nunca se publica.</a:t>
            </a:r>
            <a:endParaRPr lang="en-US" sz="1700" dirty="0"/>
          </a:p>
        </p:txBody>
      </p:sp>
      <p:sp>
        <p:nvSpPr>
          <p:cNvPr id="18" name="Para la empresa"/>
          <p:cNvSpPr/>
          <p:nvPr/>
        </p:nvSpPr>
        <p:spPr>
          <a:xfrm>
            <a:off x="11658600" y="4251960"/>
            <a:ext cx="5806440" cy="1783080"/>
          </a:xfrm>
          <a:prstGeom prst="roundRect">
            <a:avLst>
              <a:gd name="adj" fmla="val 8205"/>
            </a:avLst>
          </a:prstGeom>
          <a:solidFill>
            <a:srgbClr val="1C2C27"/>
          </a:solidFill>
          <a:ln w="12700">
            <a:solidFill>
              <a:srgbClr val="2C3D38"/>
            </a:solidFill>
            <a:prstDash val="solid"/>
          </a:ln>
        </p:spPr>
      </p:sp>
      <p:sp>
        <p:nvSpPr>
          <p:cNvPr id="19" name="Actor Para la empresa"/>
          <p:cNvSpPr txBox="1"/>
          <p:nvPr/>
        </p:nvSpPr>
        <p:spPr>
          <a:xfrm>
            <a:off x="11932920" y="4507992"/>
            <a:ext cx="5303520" cy="457200"/>
          </a:xfrm>
          <a:prstGeom prst="rect">
            <a:avLst/>
          </a:prstGeom>
          <a:noFill/>
          <a:ln/>
        </p:spPr>
        <p:txBody>
          <a:bodyPr wrap="square" lIns="0" tIns="0" rIns="0" bIns="0" rtlCol="0" anchor="ctr"/>
          <a:lstStyle/>
          <a:p>
            <a:pPr indent="0" marL="0">
              <a:buNone/>
            </a:pPr>
            <a:r>
              <a:rPr lang="en-US" sz="2200" b="1" dirty="0">
                <a:solidFill>
                  <a:srgbClr val="26A17B"/>
                </a:solidFill>
              </a:rPr>
              <a:t>Para la empresa</a:t>
            </a:r>
            <a:endParaRPr lang="en-US" sz="2200" dirty="0"/>
          </a:p>
        </p:txBody>
      </p:sp>
      <p:sp>
        <p:nvSpPr>
          <p:cNvPr id="20" name="Text 16"/>
          <p:cNvSpPr txBox="1"/>
          <p:nvPr/>
        </p:nvSpPr>
        <p:spPr>
          <a:xfrm>
            <a:off x="11932920" y="5029200"/>
            <a:ext cx="5303520" cy="1005840"/>
          </a:xfrm>
          <a:prstGeom prst="rect">
            <a:avLst/>
          </a:prstGeom>
          <a:noFill/>
          <a:ln/>
        </p:spPr>
        <p:txBody>
          <a:bodyPr wrap="square" lIns="0" tIns="0" rIns="0" bIns="0" rtlCol="0" anchor="t"/>
          <a:lstStyle/>
          <a:p>
            <a:pPr indent="0" marL="0">
              <a:buNone/>
            </a:pPr>
            <a:r>
              <a:rPr lang="en-US" sz="1700" dirty="0">
                <a:solidFill>
                  <a:srgbClr val="C5D3CF"/>
                </a:solidFill>
              </a:rPr>
              <a:t>Encuentra talento de otros oficios que ya cumple casi todo lo que pide el puesto.</a:t>
            </a:r>
            <a:endParaRPr lang="en-US" sz="1700" dirty="0"/>
          </a:p>
        </p:txBody>
      </p:sp>
      <p:sp>
        <p:nvSpPr>
          <p:cNvPr id="21" name="Para el Centro de Empleo"/>
          <p:cNvSpPr/>
          <p:nvPr/>
        </p:nvSpPr>
        <p:spPr>
          <a:xfrm>
            <a:off x="11658600" y="6263640"/>
            <a:ext cx="5806440" cy="1783080"/>
          </a:xfrm>
          <a:prstGeom prst="roundRect">
            <a:avLst>
              <a:gd name="adj" fmla="val 8205"/>
            </a:avLst>
          </a:prstGeom>
          <a:solidFill>
            <a:srgbClr val="1C2C27"/>
          </a:solidFill>
          <a:ln w="12700">
            <a:solidFill>
              <a:srgbClr val="2C3D38"/>
            </a:solidFill>
            <a:prstDash val="solid"/>
          </a:ln>
        </p:spPr>
      </p:sp>
      <p:sp>
        <p:nvSpPr>
          <p:cNvPr id="22" name="Actor Para el Centro de Empleo"/>
          <p:cNvSpPr txBox="1"/>
          <p:nvPr/>
        </p:nvSpPr>
        <p:spPr>
          <a:xfrm>
            <a:off x="11932920" y="6519672"/>
            <a:ext cx="5303520" cy="457200"/>
          </a:xfrm>
          <a:prstGeom prst="rect">
            <a:avLst/>
          </a:prstGeom>
          <a:noFill/>
          <a:ln/>
        </p:spPr>
        <p:txBody>
          <a:bodyPr wrap="square" lIns="0" tIns="0" rIns="0" bIns="0" rtlCol="0" anchor="ctr"/>
          <a:lstStyle/>
          <a:p>
            <a:pPr indent="0" marL="0">
              <a:buNone/>
            </a:pPr>
            <a:r>
              <a:rPr lang="en-US" sz="2200" b="1" dirty="0">
                <a:solidFill>
                  <a:srgbClr val="FFF6DE"/>
                </a:solidFill>
              </a:rPr>
              <a:t>Para el Centro de Empleo</a:t>
            </a:r>
            <a:endParaRPr lang="en-US" sz="2200" dirty="0"/>
          </a:p>
        </p:txBody>
      </p:sp>
      <p:sp>
        <p:nvSpPr>
          <p:cNvPr id="23" name="Text 19"/>
          <p:cNvSpPr txBox="1"/>
          <p:nvPr/>
        </p:nvSpPr>
        <p:spPr>
          <a:xfrm>
            <a:off x="11932920" y="7040880"/>
            <a:ext cx="5303520" cy="1005840"/>
          </a:xfrm>
          <a:prstGeom prst="rect">
            <a:avLst/>
          </a:prstGeom>
          <a:noFill/>
          <a:ln/>
        </p:spPr>
        <p:txBody>
          <a:bodyPr wrap="square" lIns="0" tIns="0" rIns="0" bIns="0" rtlCol="0" anchor="t"/>
          <a:lstStyle/>
          <a:p>
            <a:pPr indent="0" marL="0">
              <a:buNone/>
            </a:pPr>
            <a:r>
              <a:rPr lang="en-US" sz="1700" dirty="0">
                <a:solidFill>
                  <a:srgbClr val="C5D3CF"/>
                </a:solidFill>
              </a:rPr>
              <a:t>Intermedia el contacto, también por Keet, y la persona siempre decide.</a:t>
            </a:r>
            <a:endParaRPr lang="en-US" sz="1700" dirty="0"/>
          </a:p>
        </p:txBody>
      </p:sp>
      <p:sp>
        <p:nvSpPr>
          <p:cNvPr id="24" name="Text 20"/>
          <p:cNvSpPr txBox="1"/>
          <p:nvPr/>
        </p:nvSpPr>
        <p:spPr>
          <a:xfrm>
            <a:off x="822960" y="9235440"/>
            <a:ext cx="16642080" cy="548640"/>
          </a:xfrm>
          <a:prstGeom prst="rect">
            <a:avLst/>
          </a:prstGeom>
          <a:noFill/>
          <a:ln/>
        </p:spPr>
        <p:txBody>
          <a:bodyPr wrap="square" lIns="0" tIns="0" rIns="0" bIns="0" rtlCol="0" anchor="t"/>
          <a:lstStyle/>
          <a:p>
            <a:pPr indent="0" marL="0">
              <a:buNone/>
            </a:pPr>
            <a:r>
              <a:rPr lang="en-US" sz="1900" b="1" i="1" dirty="0">
                <a:solidFill>
                  <a:srgbClr val="F5B82E"/>
                </a:solidFill>
              </a:rPr>
              <a:t>Recolocación lateral: el banco muestra a quien viene de otro oficio y ya puede hacer el trabajo.</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Chambea · Experience</dc:title>
  <dc:subject>PptxGenJS Presentation</dc:subject>
  <dc:creator>PptxGenJS</dc:creator>
  <cp:lastModifiedBy>PptxGenJS</cp:lastModifiedBy>
  <cp:revision>1</cp:revision>
  <dcterms:created xsi:type="dcterms:W3CDTF">2026-10-29T21:36:06Z</dcterms:created>
  <dcterms:modified xsi:type="dcterms:W3CDTF">2026-10-29T21:36:06Z</dcterms:modified>
</cp:coreProperties>
</file>